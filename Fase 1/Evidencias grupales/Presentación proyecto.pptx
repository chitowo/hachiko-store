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  <p:embeddedFont>
      <p:font typeface="Cambria Bold" charset="1" panose="02040803050406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20" y="-219456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3D5AFE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17520" y="6309360"/>
            <a:ext cx="7132320" cy="7132320"/>
            <a:chOff x="0" y="0"/>
            <a:chExt cx="9509760" cy="9509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6B2FBE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028700"/>
            <a:ext cx="14401800" cy="754380"/>
            <a:chOff x="0" y="0"/>
            <a:chExt cx="1920240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623" r="0" b="-3083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2024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8FA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ESCUELA DE INFORMÁTICA Y TELECOMUNICACIONES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5386" y="5557226"/>
            <a:ext cx="4831967" cy="1244102"/>
            <a:chOff x="0" y="0"/>
            <a:chExt cx="6149776" cy="1583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49776" cy="1583403"/>
            </a:xfrm>
            <a:custGeom>
              <a:avLst/>
              <a:gdLst/>
              <a:ahLst/>
              <a:cxnLst/>
              <a:rect r="r" b="b" t="t" l="l"/>
              <a:pathLst>
                <a:path h="1583403" w="6149776">
                  <a:moveTo>
                    <a:pt x="0" y="0"/>
                  </a:moveTo>
                  <a:lnTo>
                    <a:pt x="6149776" y="0"/>
                  </a:lnTo>
                  <a:lnTo>
                    <a:pt x="6149776" y="1583403"/>
                  </a:lnTo>
                  <a:lnTo>
                    <a:pt x="0" y="15834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26" r="-212245" b="-1651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149776" cy="1621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FA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Fase 1 · Definición del Proyecto APT </a:t>
              </a: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FA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Asignatura · CAPSTONE 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22560">
            <a:off x="1215323" y="7328535"/>
            <a:ext cx="5798944" cy="0"/>
          </a:xfrm>
          <a:prstGeom prst="line">
            <a:avLst/>
          </a:prstGeom>
          <a:ln cap="rnd" w="19050">
            <a:solidFill>
              <a:srgbClr val="3D5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34440" y="7612380"/>
            <a:ext cx="15087600" cy="1645920"/>
            <a:chOff x="0" y="0"/>
            <a:chExt cx="201168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2011680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Integrantes: </a:t>
              </a:r>
              <a:r>
                <a:rPr lang="en-US" sz="1950">
                  <a:solidFill>
                    <a:srgbClr val="8FA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Christ Louidor · Vicente Donoso · Nelson Zarate</a:t>
              </a:r>
            </a:p>
            <a:p>
              <a:pPr algn="l">
                <a:lnSpc>
                  <a:spcPts val="3276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Carrera: </a:t>
              </a:r>
              <a:r>
                <a:rPr lang="en-US" sz="1950">
                  <a:solidFill>
                    <a:srgbClr val="8FA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Informática   </a:t>
              </a: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Sede: </a:t>
              </a:r>
              <a:r>
                <a:rPr lang="en-US" sz="1950">
                  <a:solidFill>
                    <a:srgbClr val="8FA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Plaza Norte</a:t>
              </a:r>
            </a:p>
            <a:p>
              <a:pPr algn="l">
                <a:lnSpc>
                  <a:spcPts val="3276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Docente guía: </a:t>
              </a:r>
              <a:r>
                <a:rPr lang="en-US" sz="1950">
                  <a:solidFill>
                    <a:srgbClr val="8FA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Marcela Alejandra 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2010572"/>
            <a:ext cx="10649249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6"/>
              </a:lnSpc>
              <a:spcBef>
                <a:spcPct val="0"/>
              </a:spcBef>
            </a:pPr>
            <a:r>
              <a:rPr lang="en-US" b="true" sz="799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Hachiko store:</a:t>
            </a:r>
          </a:p>
          <a:p>
            <a:pPr algn="l">
              <a:lnSpc>
                <a:spcPts val="6596"/>
              </a:lnSpc>
              <a:spcBef>
                <a:spcPct val="0"/>
              </a:spcBef>
            </a:pPr>
            <a:r>
              <a:rPr lang="en-US" b="true" sz="549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Plataforma inteligente de gestión empresarial para pymes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5904"/>
            <a:ext cx="14401800" cy="960120"/>
            <a:chOff x="0" y="0"/>
            <a:chExt cx="19202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633728"/>
            <a:ext cx="14813280" cy="548640"/>
            <a:chOff x="0" y="0"/>
            <a:chExt cx="197510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75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Puntos que cubre esta presentación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9150" y="285750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D5AF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9150" y="28575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9750" y="2990850"/>
            <a:ext cx="6693408" cy="480060"/>
            <a:chOff x="0" y="0"/>
            <a:chExt cx="8924544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oblema / contexto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91625" y="2857500"/>
            <a:ext cx="754380" cy="754380"/>
            <a:chOff x="0" y="0"/>
            <a:chExt cx="100584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6B2FB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91625" y="2857500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20325" y="2990850"/>
            <a:ext cx="6693408" cy="480060"/>
            <a:chOff x="0" y="0"/>
            <a:chExt cx="8924544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ción propuesta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9150" y="4333875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9150" y="4333875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09750" y="4467225"/>
            <a:ext cx="6693408" cy="480060"/>
            <a:chOff x="0" y="0"/>
            <a:chExt cx="8924544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mentación tecnológica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91625" y="4333875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D5AF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91625" y="4333875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20325" y="4467225"/>
            <a:ext cx="6693408" cy="480060"/>
            <a:chOff x="0" y="0"/>
            <a:chExt cx="8924544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 agr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egado del proyecto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91625" y="5810250"/>
            <a:ext cx="754380" cy="754380"/>
            <a:chOff x="0" y="0"/>
            <a:chExt cx="100584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6B2FB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20325" y="5943600"/>
            <a:ext cx="6693408" cy="480060"/>
            <a:chOff x="0" y="0"/>
            <a:chExt cx="8924544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y evidencias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9150" y="7286625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19150" y="7286625"/>
            <a:ext cx="754380" cy="754380"/>
            <a:chOff x="0" y="0"/>
            <a:chExt cx="100584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09750" y="7419975"/>
            <a:ext cx="6693408" cy="480060"/>
            <a:chOff x="0" y="0"/>
            <a:chExt cx="8924544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etivos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9150" y="5810250"/>
            <a:ext cx="754380" cy="754380"/>
            <a:chOff x="0" y="0"/>
            <a:chExt cx="100584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6B2FB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19150" y="5810250"/>
            <a:ext cx="754380" cy="754380"/>
            <a:chOff x="0" y="0"/>
            <a:chExt cx="100584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809750" y="5943600"/>
            <a:ext cx="6693408" cy="480060"/>
            <a:chOff x="0" y="0"/>
            <a:chExt cx="8924544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Factibili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dad + Perfil de egreso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91625" y="5810250"/>
            <a:ext cx="754380" cy="754380"/>
            <a:chOff x="0" y="0"/>
            <a:chExt cx="100584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91625" y="7286625"/>
            <a:ext cx="754380" cy="754380"/>
            <a:chOff x="0" y="0"/>
            <a:chExt cx="100584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6B2FBE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220325" y="7419975"/>
            <a:ext cx="6693408" cy="480060"/>
            <a:chOff x="0" y="0"/>
            <a:chExt cx="8924544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91625" y="7286625"/>
            <a:ext cx="754380" cy="754380"/>
            <a:chOff x="0" y="0"/>
            <a:chExt cx="1005840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19150" y="8763000"/>
            <a:ext cx="754380" cy="754380"/>
            <a:chOff x="0" y="0"/>
            <a:chExt cx="1005840" cy="1005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6B2FB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19150" y="8763000"/>
            <a:ext cx="754380" cy="754380"/>
            <a:chOff x="0" y="0"/>
            <a:chExt cx="1005840" cy="10058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91625" y="8763000"/>
            <a:ext cx="754380" cy="754380"/>
            <a:chOff x="0" y="0"/>
            <a:chExt cx="1005840" cy="1005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6B2FBE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191625" y="8763000"/>
            <a:ext cx="754380" cy="754380"/>
            <a:chOff x="0" y="0"/>
            <a:chExt cx="1005840" cy="10058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220325" y="8896350"/>
            <a:ext cx="6693408" cy="480060"/>
            <a:chOff x="0" y="0"/>
            <a:chExt cx="8924544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</a:t>
              </a: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 Gantt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809750" y="8896350"/>
            <a:ext cx="6693408" cy="480060"/>
            <a:chOff x="0" y="0"/>
            <a:chExt cx="8924544" cy="6400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924544" cy="640080"/>
            </a:xfrm>
            <a:custGeom>
              <a:avLst/>
              <a:gdLst/>
              <a:ahLst/>
              <a:cxnLst/>
              <a:rect r="r" b="b" t="t" l="l"/>
              <a:pathLst>
                <a:path h="64008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77" r="0" b="-22167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892454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8618" y="2178061"/>
            <a:ext cx="17196484" cy="1684476"/>
            <a:chOff x="0" y="0"/>
            <a:chExt cx="21794470" cy="21348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94471" cy="2134870"/>
            </a:xfrm>
            <a:custGeom>
              <a:avLst/>
              <a:gdLst/>
              <a:ahLst/>
              <a:cxnLst/>
              <a:rect r="r" b="b" t="t" l="l"/>
              <a:pathLst>
                <a:path h="2134870" w="21794471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21646007" y="0"/>
                  </a:lnTo>
                  <a:cubicBezTo>
                    <a:pt x="21728049" y="0"/>
                    <a:pt x="21794471" y="66548"/>
                    <a:pt x="21794471" y="148463"/>
                  </a:cubicBezTo>
                  <a:lnTo>
                    <a:pt x="21794471" y="1986407"/>
                  </a:lnTo>
                  <a:cubicBezTo>
                    <a:pt x="21794471" y="2068449"/>
                    <a:pt x="21727922" y="2134870"/>
                    <a:pt x="216460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96546" y="2205635"/>
            <a:ext cx="15828264" cy="595571"/>
            <a:chOff x="0" y="0"/>
            <a:chExt cx="21104352" cy="7940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04352" cy="794095"/>
            </a:xfrm>
            <a:custGeom>
              <a:avLst/>
              <a:gdLst/>
              <a:ahLst/>
              <a:cxnLst/>
              <a:rect r="r" b="b" t="t" l="l"/>
              <a:pathLst>
                <a:path h="794095" w="21104352">
                  <a:moveTo>
                    <a:pt x="0" y="0"/>
                  </a:moveTo>
                  <a:lnTo>
                    <a:pt x="21104352" y="0"/>
                  </a:lnTo>
                  <a:lnTo>
                    <a:pt x="21104352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301" r="0" b="-4523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104352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</a:t>
              </a:r>
              <a:r>
                <a:rPr lang="en-US" sz="29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oblema principal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1144" y="4414536"/>
            <a:ext cx="8394321" cy="2911007"/>
            <a:chOff x="0" y="0"/>
            <a:chExt cx="10638790" cy="3689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8790" cy="3689350"/>
            </a:xfrm>
            <a:custGeom>
              <a:avLst/>
              <a:gdLst/>
              <a:ahLst/>
              <a:cxnLst/>
              <a:rect r="r" b="b" t="t" l="l"/>
              <a:pathLst>
                <a:path h="3689350" w="1063879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491216" y="0"/>
                  </a:lnTo>
                  <a:cubicBezTo>
                    <a:pt x="10572750" y="0"/>
                    <a:pt x="10638790" y="66040"/>
                    <a:pt x="10638790" y="147574"/>
                  </a:cubicBezTo>
                  <a:lnTo>
                    <a:pt x="10638790" y="3541776"/>
                  </a:lnTo>
                  <a:cubicBezTo>
                    <a:pt x="10638790" y="3623310"/>
                    <a:pt x="10572750" y="3689350"/>
                    <a:pt x="10491216" y="3689350"/>
                  </a:cubicBezTo>
                  <a:lnTo>
                    <a:pt x="147574" y="3689350"/>
                  </a:lnTo>
                  <a:cubicBezTo>
                    <a:pt x="66040" y="3689350"/>
                    <a:pt x="0" y="3623310"/>
                    <a:pt x="0" y="3541776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73406" y="4686798"/>
            <a:ext cx="7849798" cy="595571"/>
            <a:chOff x="0" y="0"/>
            <a:chExt cx="9948672" cy="7548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48672" cy="754815"/>
            </a:xfrm>
            <a:custGeom>
              <a:avLst/>
              <a:gdLst/>
              <a:ahLst/>
              <a:cxnLst/>
              <a:rect r="r" b="b" t="t" l="l"/>
              <a:pathLst>
                <a:path h="754815" w="9948672">
                  <a:moveTo>
                    <a:pt x="0" y="0"/>
                  </a:moveTo>
                  <a:lnTo>
                    <a:pt x="9948672" y="0"/>
                  </a:lnTo>
                  <a:lnTo>
                    <a:pt x="9948672" y="754815"/>
                  </a:lnTo>
                  <a:lnTo>
                    <a:pt x="0" y="754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475" r="0" b="-193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948672" cy="811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cto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raci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</a:t>
              </a:r>
              <a:r>
                <a:rPr lang="en-US" b="true" sz="29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86860" y="4414536"/>
            <a:ext cx="8610768" cy="2911007"/>
            <a:chOff x="0" y="0"/>
            <a:chExt cx="10913110" cy="36893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13110" cy="3689350"/>
            </a:xfrm>
            <a:custGeom>
              <a:avLst/>
              <a:gdLst/>
              <a:ahLst/>
              <a:cxnLst/>
              <a:rect r="r" b="b" t="t" l="l"/>
              <a:pathLst>
                <a:path h="3689350" w="109131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0765536" y="0"/>
                  </a:lnTo>
                  <a:cubicBezTo>
                    <a:pt x="10847070" y="0"/>
                    <a:pt x="10913110" y="66040"/>
                    <a:pt x="10913110" y="147574"/>
                  </a:cubicBezTo>
                  <a:lnTo>
                    <a:pt x="10913110" y="3541776"/>
                  </a:lnTo>
                  <a:cubicBezTo>
                    <a:pt x="10913110" y="3623310"/>
                    <a:pt x="10847070" y="3689350"/>
                    <a:pt x="10765536" y="3689350"/>
                  </a:cubicBezTo>
                  <a:lnTo>
                    <a:pt x="147574" y="3689350"/>
                  </a:lnTo>
                  <a:cubicBezTo>
                    <a:pt x="66040" y="3689350"/>
                    <a:pt x="0" y="3623310"/>
                    <a:pt x="0" y="3541776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382687" y="7481602"/>
            <a:ext cx="2100699" cy="2100699"/>
          </a:xfrm>
          <a:custGeom>
            <a:avLst/>
            <a:gdLst/>
            <a:ahLst/>
            <a:cxnLst/>
            <a:rect r="r" b="b" t="t" l="l"/>
            <a:pathLst>
              <a:path h="2100699" w="2100699">
                <a:moveTo>
                  <a:pt x="0" y="0"/>
                </a:moveTo>
                <a:lnTo>
                  <a:pt x="2100699" y="0"/>
                </a:lnTo>
                <a:lnTo>
                  <a:pt x="2100699" y="2100699"/>
                </a:lnTo>
                <a:lnTo>
                  <a:pt x="0" y="2100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06157" y="7538706"/>
            <a:ext cx="1986490" cy="1986490"/>
          </a:xfrm>
          <a:custGeom>
            <a:avLst/>
            <a:gdLst/>
            <a:ahLst/>
            <a:cxnLst/>
            <a:rect r="r" b="b" t="t" l="l"/>
            <a:pathLst>
              <a:path h="1986490" w="1986490">
                <a:moveTo>
                  <a:pt x="0" y="0"/>
                </a:moveTo>
                <a:lnTo>
                  <a:pt x="1986490" y="0"/>
                </a:lnTo>
                <a:lnTo>
                  <a:pt x="1986490" y="1986490"/>
                </a:lnTo>
                <a:lnTo>
                  <a:pt x="0" y="1986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636296" y="7643564"/>
            <a:ext cx="2822573" cy="1776774"/>
          </a:xfrm>
          <a:custGeom>
            <a:avLst/>
            <a:gdLst/>
            <a:ahLst/>
            <a:cxnLst/>
            <a:rect r="r" b="b" t="t" l="l"/>
            <a:pathLst>
              <a:path h="1776774" w="2822573">
                <a:moveTo>
                  <a:pt x="0" y="0"/>
                </a:moveTo>
                <a:lnTo>
                  <a:pt x="2822573" y="0"/>
                </a:lnTo>
                <a:lnTo>
                  <a:pt x="2822573" y="1776774"/>
                </a:lnTo>
                <a:lnTo>
                  <a:pt x="0" y="1776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8957066" y="7536957"/>
            <a:ext cx="29794" cy="2201403"/>
          </a:xfrm>
          <a:prstGeom prst="line">
            <a:avLst/>
          </a:prstGeom>
          <a:ln cap="flat" w="19050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0785755" y="8102340"/>
            <a:ext cx="1699296" cy="1274472"/>
          </a:xfrm>
          <a:custGeom>
            <a:avLst/>
            <a:gdLst/>
            <a:ahLst/>
            <a:cxnLst/>
            <a:rect r="r" b="b" t="t" l="l"/>
            <a:pathLst>
              <a:path h="1274472" w="1699296">
                <a:moveTo>
                  <a:pt x="0" y="0"/>
                </a:moveTo>
                <a:lnTo>
                  <a:pt x="1699296" y="0"/>
                </a:lnTo>
                <a:lnTo>
                  <a:pt x="1699296" y="1274472"/>
                </a:lnTo>
                <a:lnTo>
                  <a:pt x="0" y="1274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397825" y="7892790"/>
            <a:ext cx="1699296" cy="1274472"/>
          </a:xfrm>
          <a:custGeom>
            <a:avLst/>
            <a:gdLst/>
            <a:ahLst/>
            <a:cxnLst/>
            <a:rect r="r" b="b" t="t" l="l"/>
            <a:pathLst>
              <a:path h="1274472" w="1699296">
                <a:moveTo>
                  <a:pt x="0" y="0"/>
                </a:moveTo>
                <a:lnTo>
                  <a:pt x="1699296" y="0"/>
                </a:lnTo>
                <a:lnTo>
                  <a:pt x="1699296" y="1274472"/>
                </a:lnTo>
                <a:lnTo>
                  <a:pt x="0" y="1274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807430" y="7401127"/>
            <a:ext cx="1699296" cy="1274472"/>
          </a:xfrm>
          <a:custGeom>
            <a:avLst/>
            <a:gdLst/>
            <a:ahLst/>
            <a:cxnLst/>
            <a:rect r="r" b="b" t="t" l="l"/>
            <a:pathLst>
              <a:path h="1274472" w="1699296">
                <a:moveTo>
                  <a:pt x="0" y="0"/>
                </a:moveTo>
                <a:lnTo>
                  <a:pt x="1699296" y="0"/>
                </a:lnTo>
                <a:lnTo>
                  <a:pt x="1699296" y="1274472"/>
                </a:lnTo>
                <a:lnTo>
                  <a:pt x="0" y="1274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363359" y="7702290"/>
            <a:ext cx="1699296" cy="1274472"/>
          </a:xfrm>
          <a:custGeom>
            <a:avLst/>
            <a:gdLst/>
            <a:ahLst/>
            <a:cxnLst/>
            <a:rect r="r" b="b" t="t" l="l"/>
            <a:pathLst>
              <a:path h="1274472" w="1699296">
                <a:moveTo>
                  <a:pt x="0" y="0"/>
                </a:moveTo>
                <a:lnTo>
                  <a:pt x="1699296" y="0"/>
                </a:lnTo>
                <a:lnTo>
                  <a:pt x="1699296" y="1274472"/>
                </a:lnTo>
                <a:lnTo>
                  <a:pt x="0" y="12744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887143" y="7551755"/>
            <a:ext cx="2222127" cy="2111021"/>
          </a:xfrm>
          <a:custGeom>
            <a:avLst/>
            <a:gdLst/>
            <a:ahLst/>
            <a:cxnLst/>
            <a:rect r="r" b="b" t="t" l="l"/>
            <a:pathLst>
              <a:path h="2111021" w="2222127">
                <a:moveTo>
                  <a:pt x="0" y="0"/>
                </a:moveTo>
                <a:lnTo>
                  <a:pt x="2222127" y="0"/>
                </a:lnTo>
                <a:lnTo>
                  <a:pt x="2222127" y="2111020"/>
                </a:lnTo>
                <a:lnTo>
                  <a:pt x="0" y="21110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556602" y="8208372"/>
            <a:ext cx="1664527" cy="1331622"/>
          </a:xfrm>
          <a:custGeom>
            <a:avLst/>
            <a:gdLst/>
            <a:ahLst/>
            <a:cxnLst/>
            <a:rect r="r" b="b" t="t" l="l"/>
            <a:pathLst>
              <a:path h="1331622" w="1664527">
                <a:moveTo>
                  <a:pt x="0" y="0"/>
                </a:moveTo>
                <a:lnTo>
                  <a:pt x="1664527" y="0"/>
                </a:lnTo>
                <a:lnTo>
                  <a:pt x="1664527" y="1331622"/>
                </a:lnTo>
                <a:lnTo>
                  <a:pt x="0" y="13316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96546" y="2686906"/>
            <a:ext cx="16651960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Las PyM</a:t>
            </a:r>
            <a:r>
              <a:rPr lang="en-US" sz="2799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Es pueden gestionar ventas, inventario, clientes y datos mediante herramientas separadas, dificultando la centralización de la información y la toma de decisiones.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9071" y="5320843"/>
            <a:ext cx="7849798" cy="149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• Información fragmentada</a:t>
            </a:r>
          </a:p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• Errores de inventario , sobreventa y falta de stock</a:t>
            </a:r>
          </a:p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• Baja trazabilidad de operaciones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59122" y="5320843"/>
            <a:ext cx="8066244" cy="149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• Indicadores dispersos</a:t>
            </a:r>
          </a:p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• Bajo aprovechamiento de los datos</a:t>
            </a:r>
          </a:p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• Decisiones con información limitada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2960" y="735330"/>
            <a:ext cx="539695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Problema / contexto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59122" y="4566041"/>
            <a:ext cx="339536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 en la gestión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5394" y="1386814"/>
            <a:ext cx="15388323" cy="1710187"/>
            <a:chOff x="0" y="0"/>
            <a:chExt cx="20517764" cy="22802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17738" cy="2280249"/>
            </a:xfrm>
            <a:custGeom>
              <a:avLst/>
              <a:gdLst/>
              <a:ahLst/>
              <a:cxnLst/>
              <a:rect r="r" b="b" t="t" l="l"/>
              <a:pathLst>
                <a:path h="2280249" w="20517738">
                  <a:moveTo>
                    <a:pt x="0" y="74447"/>
                  </a:moveTo>
                  <a:cubicBezTo>
                    <a:pt x="0" y="33308"/>
                    <a:pt x="65913" y="0"/>
                    <a:pt x="147320" y="0"/>
                  </a:cubicBezTo>
                  <a:lnTo>
                    <a:pt x="20370419" y="0"/>
                  </a:lnTo>
                  <a:cubicBezTo>
                    <a:pt x="20451826" y="0"/>
                    <a:pt x="20517738" y="33308"/>
                    <a:pt x="20517738" y="74447"/>
                  </a:cubicBezTo>
                  <a:lnTo>
                    <a:pt x="20517738" y="2205802"/>
                  </a:lnTo>
                  <a:cubicBezTo>
                    <a:pt x="20517738" y="2246940"/>
                    <a:pt x="20451826" y="2280249"/>
                    <a:pt x="20370419" y="2280249"/>
                  </a:cubicBezTo>
                  <a:lnTo>
                    <a:pt x="147320" y="2280249"/>
                  </a:lnTo>
                  <a:cubicBezTo>
                    <a:pt x="65913" y="2280249"/>
                    <a:pt x="0" y="2246940"/>
                    <a:pt x="0" y="2205802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87903" y="4013859"/>
            <a:ext cx="5032014" cy="2561272"/>
            <a:chOff x="0" y="0"/>
            <a:chExt cx="6709352" cy="3415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09352" cy="3415030"/>
            </a:xfrm>
            <a:custGeom>
              <a:avLst/>
              <a:gdLst/>
              <a:ahLst/>
              <a:cxnLst/>
              <a:rect r="r" b="b" t="t" l="l"/>
              <a:pathLst>
                <a:path h="3415030" w="6709352">
                  <a:moveTo>
                    <a:pt x="0" y="147701"/>
                  </a:moveTo>
                  <a:cubicBezTo>
                    <a:pt x="0" y="66167"/>
                    <a:pt x="42090" y="0"/>
                    <a:pt x="93955" y="0"/>
                  </a:cubicBezTo>
                  <a:lnTo>
                    <a:pt x="6615397" y="0"/>
                  </a:lnTo>
                  <a:cubicBezTo>
                    <a:pt x="6667262" y="0"/>
                    <a:pt x="6709352" y="66167"/>
                    <a:pt x="6709352" y="147701"/>
                  </a:cubicBezTo>
                  <a:lnTo>
                    <a:pt x="6709352" y="3267329"/>
                  </a:lnTo>
                  <a:cubicBezTo>
                    <a:pt x="6709352" y="3348863"/>
                    <a:pt x="6667262" y="3415030"/>
                    <a:pt x="6615397" y="3415030"/>
                  </a:cubicBezTo>
                  <a:lnTo>
                    <a:pt x="93955" y="3415030"/>
                  </a:lnTo>
                  <a:cubicBezTo>
                    <a:pt x="42090" y="3415030"/>
                    <a:pt x="0" y="3348863"/>
                    <a:pt x="0" y="3267329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25285" y="3954251"/>
            <a:ext cx="5032014" cy="2500926"/>
            <a:chOff x="0" y="0"/>
            <a:chExt cx="6871247" cy="34150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1247" cy="3415030"/>
            </a:xfrm>
            <a:custGeom>
              <a:avLst/>
              <a:gdLst/>
              <a:ahLst/>
              <a:cxnLst/>
              <a:rect r="r" b="b" t="t" l="l"/>
              <a:pathLst>
                <a:path h="3415030" w="6871247">
                  <a:moveTo>
                    <a:pt x="0" y="147701"/>
                  </a:moveTo>
                  <a:cubicBezTo>
                    <a:pt x="0" y="66167"/>
                    <a:pt x="43106" y="0"/>
                    <a:pt x="96222" y="0"/>
                  </a:cubicBezTo>
                  <a:lnTo>
                    <a:pt x="6775025" y="0"/>
                  </a:lnTo>
                  <a:cubicBezTo>
                    <a:pt x="6828141" y="0"/>
                    <a:pt x="6871247" y="66167"/>
                    <a:pt x="6871247" y="147701"/>
                  </a:cubicBezTo>
                  <a:lnTo>
                    <a:pt x="6871247" y="3267329"/>
                  </a:lnTo>
                  <a:cubicBezTo>
                    <a:pt x="6871247" y="3348863"/>
                    <a:pt x="6828141" y="3415030"/>
                    <a:pt x="6775025" y="3415030"/>
                  </a:cubicBezTo>
                  <a:lnTo>
                    <a:pt x="96222" y="3415030"/>
                  </a:lnTo>
                  <a:cubicBezTo>
                    <a:pt x="43106" y="3415030"/>
                    <a:pt x="0" y="3348863"/>
                    <a:pt x="0" y="3267329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7903" y="6876110"/>
            <a:ext cx="5032014" cy="2561272"/>
            <a:chOff x="0" y="0"/>
            <a:chExt cx="6709352" cy="34150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9352" cy="3415030"/>
            </a:xfrm>
            <a:custGeom>
              <a:avLst/>
              <a:gdLst/>
              <a:ahLst/>
              <a:cxnLst/>
              <a:rect r="r" b="b" t="t" l="l"/>
              <a:pathLst>
                <a:path h="3415030" w="6709352">
                  <a:moveTo>
                    <a:pt x="0" y="147701"/>
                  </a:moveTo>
                  <a:cubicBezTo>
                    <a:pt x="0" y="66167"/>
                    <a:pt x="42090" y="0"/>
                    <a:pt x="93955" y="0"/>
                  </a:cubicBezTo>
                  <a:lnTo>
                    <a:pt x="6615397" y="0"/>
                  </a:lnTo>
                  <a:cubicBezTo>
                    <a:pt x="6667262" y="0"/>
                    <a:pt x="6709352" y="66167"/>
                    <a:pt x="6709352" y="147701"/>
                  </a:cubicBezTo>
                  <a:lnTo>
                    <a:pt x="6709352" y="3267329"/>
                  </a:lnTo>
                  <a:cubicBezTo>
                    <a:pt x="6709352" y="3348863"/>
                    <a:pt x="6667262" y="3415030"/>
                    <a:pt x="6615397" y="3415030"/>
                  </a:cubicBezTo>
                  <a:lnTo>
                    <a:pt x="93955" y="3415030"/>
                  </a:lnTo>
                  <a:cubicBezTo>
                    <a:pt x="42090" y="3415030"/>
                    <a:pt x="0" y="3348863"/>
                    <a:pt x="0" y="3267329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825285" y="6876110"/>
            <a:ext cx="5032014" cy="2561272"/>
            <a:chOff x="0" y="0"/>
            <a:chExt cx="6709352" cy="34150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09352" cy="3415030"/>
            </a:xfrm>
            <a:custGeom>
              <a:avLst/>
              <a:gdLst/>
              <a:ahLst/>
              <a:cxnLst/>
              <a:rect r="r" b="b" t="t" l="l"/>
              <a:pathLst>
                <a:path h="3415030" w="6709352">
                  <a:moveTo>
                    <a:pt x="0" y="147701"/>
                  </a:moveTo>
                  <a:cubicBezTo>
                    <a:pt x="0" y="66167"/>
                    <a:pt x="42090" y="0"/>
                    <a:pt x="93955" y="0"/>
                  </a:cubicBezTo>
                  <a:lnTo>
                    <a:pt x="6615397" y="0"/>
                  </a:lnTo>
                  <a:cubicBezTo>
                    <a:pt x="6667262" y="0"/>
                    <a:pt x="6709352" y="66167"/>
                    <a:pt x="6709352" y="147701"/>
                  </a:cubicBezTo>
                  <a:lnTo>
                    <a:pt x="6709352" y="3267329"/>
                  </a:lnTo>
                  <a:cubicBezTo>
                    <a:pt x="6709352" y="3348863"/>
                    <a:pt x="6667262" y="3415030"/>
                    <a:pt x="6615397" y="3415030"/>
                  </a:cubicBezTo>
                  <a:lnTo>
                    <a:pt x="93955" y="3415030"/>
                  </a:lnTo>
                  <a:cubicBezTo>
                    <a:pt x="42090" y="3415030"/>
                    <a:pt x="0" y="3348863"/>
                    <a:pt x="0" y="3267329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6099013" y="4062425"/>
            <a:ext cx="2400542" cy="2400542"/>
          </a:xfrm>
          <a:custGeom>
            <a:avLst/>
            <a:gdLst/>
            <a:ahLst/>
            <a:cxnLst/>
            <a:rect r="r" b="b" t="t" l="l"/>
            <a:pathLst>
              <a:path h="2400542" w="2400542">
                <a:moveTo>
                  <a:pt x="0" y="0"/>
                </a:moveTo>
                <a:lnTo>
                  <a:pt x="2400542" y="0"/>
                </a:lnTo>
                <a:lnTo>
                  <a:pt x="2400542" y="2400542"/>
                </a:lnTo>
                <a:lnTo>
                  <a:pt x="0" y="2400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99013" y="6999592"/>
            <a:ext cx="2400542" cy="2400542"/>
          </a:xfrm>
          <a:custGeom>
            <a:avLst/>
            <a:gdLst/>
            <a:ahLst/>
            <a:cxnLst/>
            <a:rect r="r" b="b" t="t" l="l"/>
            <a:pathLst>
              <a:path h="2400542" w="2400542">
                <a:moveTo>
                  <a:pt x="0" y="0"/>
                </a:moveTo>
                <a:lnTo>
                  <a:pt x="2400542" y="0"/>
                </a:lnTo>
                <a:lnTo>
                  <a:pt x="2400542" y="2400542"/>
                </a:lnTo>
                <a:lnTo>
                  <a:pt x="0" y="2400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74254" y="6999592"/>
            <a:ext cx="2238925" cy="2238925"/>
          </a:xfrm>
          <a:custGeom>
            <a:avLst/>
            <a:gdLst/>
            <a:ahLst/>
            <a:cxnLst/>
            <a:rect r="r" b="b" t="t" l="l"/>
            <a:pathLst>
              <a:path h="2238925" w="2238925">
                <a:moveTo>
                  <a:pt x="0" y="0"/>
                </a:moveTo>
                <a:lnTo>
                  <a:pt x="2238926" y="0"/>
                </a:lnTo>
                <a:lnTo>
                  <a:pt x="2238926" y="2238925"/>
                </a:lnTo>
                <a:lnTo>
                  <a:pt x="0" y="223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045450" y="4094224"/>
            <a:ext cx="2552178" cy="2005502"/>
          </a:xfrm>
          <a:custGeom>
            <a:avLst/>
            <a:gdLst/>
            <a:ahLst/>
            <a:cxnLst/>
            <a:rect r="r" b="b" t="t" l="l"/>
            <a:pathLst>
              <a:path h="2005502" w="2552178">
                <a:moveTo>
                  <a:pt x="0" y="0"/>
                </a:moveTo>
                <a:lnTo>
                  <a:pt x="2552178" y="0"/>
                </a:lnTo>
                <a:lnTo>
                  <a:pt x="2552178" y="2005503"/>
                </a:lnTo>
                <a:lnTo>
                  <a:pt x="0" y="200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3040" y="1486922"/>
            <a:ext cx="15170677" cy="150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Hachiko Store propone una plataforma web modular de gestión empresarial para PyMEs, capaz de centralizar ventas, inventario, clientes y administración en un único sistema, incorporando análisis de datos e inteligencia artificial como apoyo a la toma de decisiones.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3040" y="317418"/>
            <a:ext cx="5694190" cy="77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1"/>
              </a:lnSpc>
              <a:spcBef>
                <a:spcPct val="0"/>
              </a:spcBef>
            </a:pPr>
            <a:r>
              <a:rPr lang="en-US" b="true" sz="5051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Solución propuesta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7903" y="4005275"/>
            <a:ext cx="503201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Gestión centralizada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7903" y="6843242"/>
            <a:ext cx="503201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Datos e inteligencia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25285" y="3887576"/>
            <a:ext cx="5032014" cy="50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5"/>
              </a:lnSpc>
              <a:spcBef>
                <a:spcPct val="0"/>
              </a:spcBef>
            </a:pPr>
            <a:r>
              <a:rPr lang="en-US" b="true" sz="2929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modu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</a:t>
            </a:r>
            <a:r>
              <a:rPr lang="en-US" b="true" sz="292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25285" y="6818960"/>
            <a:ext cx="503201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*Asis</a:t>
            </a:r>
            <a:r>
              <a:rPr lang="en-US" b="true" sz="2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tente </a:t>
            </a:r>
            <a:r>
              <a:rPr lang="en-US" b="true" sz="2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</a:t>
            </a:r>
            <a:r>
              <a:rPr lang="en-US" b="true" sz="2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ligente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5024" y="4774990"/>
            <a:ext cx="4794893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</a:t>
            </a: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entas, pedidos, inventario, clientes y administración.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6464" y="7614767"/>
            <a:ext cx="4794893" cy="150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Inteligencia de negocios </a:t>
            </a: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 Machine Learning para analizar clientes, ventas y demanda.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43845" y="7761935"/>
            <a:ext cx="4794893" cy="150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</a:t>
            </a: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nsultas en lenguaje natural sobre información e indicadores del negocio.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43845" y="4549347"/>
            <a:ext cx="4794893" cy="146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2"/>
              </a:lnSpc>
              <a:spcBef>
                <a:spcPct val="0"/>
              </a:spcBef>
            </a:pPr>
            <a:r>
              <a:rPr lang="en-US" sz="2734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</a:t>
            </a:r>
            <a:r>
              <a:rPr lang="en-US" sz="2734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eñada para incorporar nuevas funcionalidades y adaptarse al crecimiento de la PyME.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6866" y="2604135"/>
            <a:ext cx="3701367" cy="3730680"/>
            <a:chOff x="0" y="0"/>
            <a:chExt cx="3699263" cy="3728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99263" cy="3728560"/>
            </a:xfrm>
            <a:custGeom>
              <a:avLst/>
              <a:gdLst/>
              <a:ahLst/>
              <a:cxnLst/>
              <a:rect r="r" b="b" t="t" l="l"/>
              <a:pathLst>
                <a:path h="3728560" w="3699263">
                  <a:moveTo>
                    <a:pt x="0" y="121732"/>
                  </a:moveTo>
                  <a:cubicBezTo>
                    <a:pt x="0" y="54464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54464"/>
                    <a:pt x="3699263" y="121732"/>
                  </a:cubicBezTo>
                  <a:lnTo>
                    <a:pt x="3699263" y="3606828"/>
                  </a:lnTo>
                  <a:cubicBezTo>
                    <a:pt x="3699263" y="3674096"/>
                    <a:pt x="3676920" y="3728560"/>
                    <a:pt x="3649325" y="3728560"/>
                  </a:cubicBezTo>
                  <a:lnTo>
                    <a:pt x="49938" y="3728560"/>
                  </a:lnTo>
                  <a:cubicBezTo>
                    <a:pt x="22343" y="3728560"/>
                    <a:pt x="0" y="3674096"/>
                    <a:pt x="0" y="3606828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10644" y="2771733"/>
            <a:ext cx="3467302" cy="630567"/>
            <a:chOff x="0" y="0"/>
            <a:chExt cx="3465331" cy="630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65331" cy="630209"/>
            </a:xfrm>
            <a:custGeom>
              <a:avLst/>
              <a:gdLst/>
              <a:ahLst/>
              <a:cxnLst/>
              <a:rect r="r" b="b" t="t" l="l"/>
              <a:pathLst>
                <a:path h="630209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630209"/>
                  </a:lnTo>
                  <a:lnTo>
                    <a:pt x="0" y="630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549" r="-195007" b="-25960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465331" cy="69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ción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31668" y="3764250"/>
            <a:ext cx="3677588" cy="199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Next.js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React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TypeScript</a:t>
            </a:r>
          </a:p>
          <a:p>
            <a:pPr algn="l">
              <a:lnSpc>
                <a:spcPts val="3863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0644" y="1009650"/>
            <a:ext cx="744691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aci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ón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t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e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cno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l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ó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g</a:t>
            </a: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ica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07358" y="2604135"/>
            <a:ext cx="3701367" cy="3733233"/>
            <a:chOff x="0" y="0"/>
            <a:chExt cx="3699263" cy="3731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99263" cy="3731111"/>
            </a:xfrm>
            <a:custGeom>
              <a:avLst/>
              <a:gdLst/>
              <a:ahLst/>
              <a:cxnLst/>
              <a:rect r="r" b="b" t="t" l="l"/>
              <a:pathLst>
                <a:path h="3731111" w="3699263">
                  <a:moveTo>
                    <a:pt x="0" y="121815"/>
                  </a:moveTo>
                  <a:cubicBezTo>
                    <a:pt x="0" y="54502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54502"/>
                    <a:pt x="3699263" y="121815"/>
                  </a:cubicBezTo>
                  <a:lnTo>
                    <a:pt x="3699263" y="3609296"/>
                  </a:lnTo>
                  <a:cubicBezTo>
                    <a:pt x="3699263" y="3676610"/>
                    <a:pt x="3676920" y="3731111"/>
                    <a:pt x="3649325" y="3731111"/>
                  </a:cubicBezTo>
                  <a:lnTo>
                    <a:pt x="49938" y="3731111"/>
                  </a:lnTo>
                  <a:cubicBezTo>
                    <a:pt x="22343" y="3731111"/>
                    <a:pt x="0" y="3676609"/>
                    <a:pt x="0" y="3609296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099206" y="2771733"/>
            <a:ext cx="3467302" cy="1106817"/>
            <a:chOff x="0" y="0"/>
            <a:chExt cx="3465331" cy="11061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65331" cy="1106188"/>
            </a:xfrm>
            <a:custGeom>
              <a:avLst/>
              <a:gdLst/>
              <a:ahLst/>
              <a:cxnLst/>
              <a:rect r="r" b="b" t="t" l="l"/>
              <a:pathLst>
                <a:path h="1106188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1106188"/>
                  </a:lnTo>
                  <a:lnTo>
                    <a:pt x="0" y="1106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274" r="-195007" b="-1048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465331" cy="117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ó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dato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  <a:p>
              <a:pPr algn="ctr">
                <a:lnSpc>
                  <a:spcPts val="3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099206" y="3677567"/>
            <a:ext cx="3650998" cy="148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Pos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SQL</a:t>
            </a:r>
          </a:p>
          <a:p>
            <a:pPr algn="l" marL="604521" indent="-302261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Prism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</a:t>
            </a:r>
          </a:p>
          <a:p>
            <a:pPr algn="l" marL="604521" indent="-302261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80225" y="2604135"/>
            <a:ext cx="3701367" cy="3733233"/>
            <a:chOff x="0" y="0"/>
            <a:chExt cx="3699263" cy="3731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99263" cy="3731111"/>
            </a:xfrm>
            <a:custGeom>
              <a:avLst/>
              <a:gdLst/>
              <a:ahLst/>
              <a:cxnLst/>
              <a:rect r="r" b="b" t="t" l="l"/>
              <a:pathLst>
                <a:path h="3731111" w="3699263">
                  <a:moveTo>
                    <a:pt x="0" y="121815"/>
                  </a:moveTo>
                  <a:cubicBezTo>
                    <a:pt x="0" y="54502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54502"/>
                    <a:pt x="3699263" y="121815"/>
                  </a:cubicBezTo>
                  <a:lnTo>
                    <a:pt x="3699263" y="3609296"/>
                  </a:lnTo>
                  <a:cubicBezTo>
                    <a:pt x="3699263" y="3676610"/>
                    <a:pt x="3676920" y="3731111"/>
                    <a:pt x="3649325" y="3731111"/>
                  </a:cubicBezTo>
                  <a:lnTo>
                    <a:pt x="49938" y="3731111"/>
                  </a:lnTo>
                  <a:cubicBezTo>
                    <a:pt x="22343" y="3731111"/>
                    <a:pt x="0" y="3676609"/>
                    <a:pt x="0" y="3609296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397257" y="2771733"/>
            <a:ext cx="3467302" cy="1106817"/>
            <a:chOff x="0" y="0"/>
            <a:chExt cx="3465331" cy="11061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65331" cy="1106188"/>
            </a:xfrm>
            <a:custGeom>
              <a:avLst/>
              <a:gdLst/>
              <a:ahLst/>
              <a:cxnLst/>
              <a:rect r="r" b="b" t="t" l="l"/>
              <a:pathLst>
                <a:path h="1106188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1106188"/>
                  </a:lnTo>
                  <a:lnTo>
                    <a:pt x="0" y="1106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274" r="-195007" b="-1048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465331" cy="117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teligencia y análisis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397257" y="4342624"/>
            <a:ext cx="3467302" cy="196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Pow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er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BI</a:t>
            </a: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yth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on</a:t>
            </a: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ikit-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learn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685800" y="6899343"/>
            <a:ext cx="12295791" cy="2358957"/>
            <a:chOff x="0" y="0"/>
            <a:chExt cx="12288802" cy="23576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88803" cy="2357616"/>
            </a:xfrm>
            <a:custGeom>
              <a:avLst/>
              <a:gdLst/>
              <a:ahLst/>
              <a:cxnLst/>
              <a:rect r="r" b="b" t="t" l="l"/>
              <a:pathLst>
                <a:path h="2357616" w="12288803">
                  <a:moveTo>
                    <a:pt x="0" y="76973"/>
                  </a:moveTo>
                  <a:cubicBezTo>
                    <a:pt x="0" y="34439"/>
                    <a:pt x="74222" y="0"/>
                    <a:pt x="165891" y="0"/>
                  </a:cubicBezTo>
                  <a:lnTo>
                    <a:pt x="12122912" y="0"/>
                  </a:lnTo>
                  <a:cubicBezTo>
                    <a:pt x="12214580" y="0"/>
                    <a:pt x="12288803" y="34439"/>
                    <a:pt x="12288803" y="76973"/>
                  </a:cubicBezTo>
                  <a:lnTo>
                    <a:pt x="12288803" y="2280644"/>
                  </a:lnTo>
                  <a:cubicBezTo>
                    <a:pt x="12288803" y="2323178"/>
                    <a:pt x="12214580" y="2357616"/>
                    <a:pt x="12122912" y="2357616"/>
                  </a:cubicBezTo>
                  <a:lnTo>
                    <a:pt x="165891" y="2357616"/>
                  </a:lnTo>
                  <a:cubicBezTo>
                    <a:pt x="74222" y="2357616"/>
                    <a:pt x="0" y="2323177"/>
                    <a:pt x="0" y="2280644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97354" y="6899343"/>
            <a:ext cx="13271006" cy="630567"/>
            <a:chOff x="0" y="0"/>
            <a:chExt cx="13263463" cy="6302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263463" cy="630209"/>
            </a:xfrm>
            <a:custGeom>
              <a:avLst/>
              <a:gdLst/>
              <a:ahLst/>
              <a:cxnLst/>
              <a:rect r="r" b="b" t="t" l="l"/>
              <a:pathLst>
                <a:path h="630209" w="13263463">
                  <a:moveTo>
                    <a:pt x="0" y="0"/>
                  </a:moveTo>
                  <a:lnTo>
                    <a:pt x="13263463" y="0"/>
                  </a:lnTo>
                  <a:lnTo>
                    <a:pt x="13263463" y="630209"/>
                  </a:lnTo>
                  <a:lnTo>
                    <a:pt x="0" y="630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549" r="22923" b="-2596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3263463" cy="69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85800" y="7853495"/>
            <a:ext cx="6912361" cy="51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it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Hub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79140" y="7853495"/>
            <a:ext cx="7254524" cy="51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Vercel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667391" y="2604135"/>
            <a:ext cx="3701367" cy="6654165"/>
            <a:chOff x="0" y="0"/>
            <a:chExt cx="3699263" cy="66503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99263" cy="6650383"/>
            </a:xfrm>
            <a:custGeom>
              <a:avLst/>
              <a:gdLst/>
              <a:ahLst/>
              <a:cxnLst/>
              <a:rect r="r" b="b" t="t" l="l"/>
              <a:pathLst>
                <a:path h="6650383" w="3699263">
                  <a:moveTo>
                    <a:pt x="0" y="217125"/>
                  </a:moveTo>
                  <a:cubicBezTo>
                    <a:pt x="0" y="97145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97145"/>
                    <a:pt x="3699263" y="217125"/>
                  </a:cubicBezTo>
                  <a:lnTo>
                    <a:pt x="3699263" y="6433258"/>
                  </a:lnTo>
                  <a:cubicBezTo>
                    <a:pt x="3699263" y="6553239"/>
                    <a:pt x="3676920" y="6650383"/>
                    <a:pt x="3649325" y="6650383"/>
                  </a:cubicBezTo>
                  <a:lnTo>
                    <a:pt x="49938" y="6650383"/>
                  </a:lnTo>
                  <a:cubicBezTo>
                    <a:pt x="22343" y="6650382"/>
                    <a:pt x="0" y="6553238"/>
                    <a:pt x="0" y="6433258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784424" y="2771733"/>
            <a:ext cx="3467302" cy="630567"/>
            <a:chOff x="0" y="0"/>
            <a:chExt cx="3465331" cy="6302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65331" cy="630209"/>
            </a:xfrm>
            <a:custGeom>
              <a:avLst/>
              <a:gdLst/>
              <a:ahLst/>
              <a:cxnLst/>
              <a:rect r="r" b="b" t="t" l="l"/>
              <a:pathLst>
                <a:path h="630209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630209"/>
                  </a:lnTo>
                  <a:lnTo>
                    <a:pt x="0" y="630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549" r="-195007" b="-25960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3465331" cy="69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eguridad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784424" y="3630900"/>
            <a:ext cx="3467302" cy="484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5488"/>
              </a:lnSpc>
              <a:buFont typeface="Arial"/>
              <a:buChar char="•"/>
            </a:pPr>
            <a:r>
              <a:rPr lang="en-US" sz="28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Argon2id +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JWT</a:t>
            </a:r>
          </a:p>
          <a:p>
            <a:pPr algn="l" marL="604521" indent="-302261" lvl="1">
              <a:lnSpc>
                <a:spcPts val="5488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2FA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TOTP</a:t>
            </a:r>
          </a:p>
          <a:p>
            <a:pPr algn="l" marL="604521" indent="-302261" lvl="1">
              <a:lnSpc>
                <a:spcPts val="5488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RBAC</a:t>
            </a:r>
          </a:p>
          <a:p>
            <a:pPr algn="l" marL="604521" indent="-302261" lvl="1">
              <a:lnSpc>
                <a:spcPts val="5488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AES-256-G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</a:t>
            </a:r>
          </a:p>
          <a:p>
            <a:pPr algn="l" marL="604521" indent="-302261" lvl="1">
              <a:lnSpc>
                <a:spcPts val="5488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udit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og</a:t>
            </a:r>
          </a:p>
          <a:p>
            <a:pPr algn="l" marL="604521" indent="-302261" lvl="1">
              <a:lnSpc>
                <a:spcPts val="5488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OWASP</a:t>
            </a:r>
          </a:p>
          <a:p>
            <a:pPr algn="l">
              <a:lnSpc>
                <a:spcPts val="548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6854" y="1805294"/>
            <a:ext cx="8253954" cy="3569054"/>
            <a:chOff x="0" y="0"/>
            <a:chExt cx="10547350" cy="45607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47350" cy="4560730"/>
            </a:xfrm>
            <a:custGeom>
              <a:avLst/>
              <a:gdLst/>
              <a:ahLst/>
              <a:cxnLst/>
              <a:rect r="r" b="b" t="t" l="l"/>
              <a:pathLst>
                <a:path h="4560730" w="10547350">
                  <a:moveTo>
                    <a:pt x="0" y="197253"/>
                  </a:moveTo>
                  <a:cubicBezTo>
                    <a:pt x="0" y="88365"/>
                    <a:pt x="66167" y="0"/>
                    <a:pt x="147701" y="0"/>
                  </a:cubicBezTo>
                  <a:lnTo>
                    <a:pt x="10399649" y="0"/>
                  </a:lnTo>
                  <a:cubicBezTo>
                    <a:pt x="10481183" y="0"/>
                    <a:pt x="10547350" y="88365"/>
                    <a:pt x="10547350" y="197253"/>
                  </a:cubicBezTo>
                  <a:lnTo>
                    <a:pt x="10547350" y="4363477"/>
                  </a:lnTo>
                  <a:cubicBezTo>
                    <a:pt x="10547350" y="4472365"/>
                    <a:pt x="10481183" y="4560730"/>
                    <a:pt x="10399649" y="4560730"/>
                  </a:cubicBezTo>
                  <a:lnTo>
                    <a:pt x="147701" y="4560730"/>
                  </a:lnTo>
                  <a:cubicBezTo>
                    <a:pt x="66167" y="4560730"/>
                    <a:pt x="0" y="4472365"/>
                    <a:pt x="0" y="4363477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4878" y="392430"/>
            <a:ext cx="7410599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Valor agregado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1585" y="1944719"/>
            <a:ext cx="5194904" cy="53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6"/>
              </a:lnSpc>
              <a:spcBef>
                <a:spcPct val="0"/>
              </a:spcBef>
            </a:pP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¿Por qué escogimos este tema?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5146" y="2720559"/>
            <a:ext cx="8057369" cy="19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Porque permite abordar una problemática real de las PyMEs mediante una solución que integra desarrollo de software, gestión de datos, analítica e inteligencia artificial.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96854" y="5926797"/>
            <a:ext cx="8253954" cy="3366895"/>
            <a:chOff x="0" y="0"/>
            <a:chExt cx="10547350" cy="43024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47350" cy="4302401"/>
            </a:xfrm>
            <a:custGeom>
              <a:avLst/>
              <a:gdLst/>
              <a:ahLst/>
              <a:cxnLst/>
              <a:rect r="r" b="b" t="t" l="l"/>
              <a:pathLst>
                <a:path h="4302401" w="10547350">
                  <a:moveTo>
                    <a:pt x="0" y="186080"/>
                  </a:moveTo>
                  <a:cubicBezTo>
                    <a:pt x="0" y="83360"/>
                    <a:pt x="66167" y="0"/>
                    <a:pt x="147701" y="0"/>
                  </a:cubicBezTo>
                  <a:lnTo>
                    <a:pt x="10399649" y="0"/>
                  </a:lnTo>
                  <a:cubicBezTo>
                    <a:pt x="10481183" y="0"/>
                    <a:pt x="10547350" y="83360"/>
                    <a:pt x="10547350" y="186080"/>
                  </a:cubicBezTo>
                  <a:lnTo>
                    <a:pt x="10547350" y="4116320"/>
                  </a:lnTo>
                  <a:cubicBezTo>
                    <a:pt x="10547350" y="4219041"/>
                    <a:pt x="10481183" y="4302401"/>
                    <a:pt x="10399649" y="4302401"/>
                  </a:cubicBezTo>
                  <a:lnTo>
                    <a:pt x="147701" y="4302401"/>
                  </a:lnTo>
                  <a:cubicBezTo>
                    <a:pt x="66167" y="4302401"/>
                    <a:pt x="0" y="4219041"/>
                    <a:pt x="0" y="4116320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903025" y="6012522"/>
            <a:ext cx="4852024" cy="53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6"/>
              </a:lnSpc>
              <a:spcBef>
                <a:spcPct val="0"/>
              </a:spcBef>
            </a:pP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Dónd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se 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ubica la si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ción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5146" y="6773067"/>
            <a:ext cx="8057369" cy="19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 pequeñas empresas y PyMEs que gestionan ventas, inventario, clientes y operaciones mediante herramientas separadas o poco integradas.</a:t>
            </a:r>
          </a:p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536421" y="1805294"/>
            <a:ext cx="8253954" cy="3569054"/>
            <a:chOff x="0" y="0"/>
            <a:chExt cx="10547350" cy="45607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47350" cy="4560730"/>
            </a:xfrm>
            <a:custGeom>
              <a:avLst/>
              <a:gdLst/>
              <a:ahLst/>
              <a:cxnLst/>
              <a:rect r="r" b="b" t="t" l="l"/>
              <a:pathLst>
                <a:path h="4560730" w="10547350">
                  <a:moveTo>
                    <a:pt x="0" y="197253"/>
                  </a:moveTo>
                  <a:cubicBezTo>
                    <a:pt x="0" y="88365"/>
                    <a:pt x="66167" y="0"/>
                    <a:pt x="147701" y="0"/>
                  </a:cubicBezTo>
                  <a:lnTo>
                    <a:pt x="10399649" y="0"/>
                  </a:lnTo>
                  <a:cubicBezTo>
                    <a:pt x="10481183" y="0"/>
                    <a:pt x="10547350" y="88365"/>
                    <a:pt x="10547350" y="197253"/>
                  </a:cubicBezTo>
                  <a:lnTo>
                    <a:pt x="10547350" y="4363477"/>
                  </a:lnTo>
                  <a:cubicBezTo>
                    <a:pt x="10547350" y="4472365"/>
                    <a:pt x="10481183" y="4560730"/>
                    <a:pt x="10399649" y="4560730"/>
                  </a:cubicBezTo>
                  <a:lnTo>
                    <a:pt x="147701" y="4560730"/>
                  </a:lnTo>
                  <a:cubicBezTo>
                    <a:pt x="66167" y="4560730"/>
                    <a:pt x="0" y="4472365"/>
                    <a:pt x="0" y="4363477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955523" y="1993968"/>
            <a:ext cx="3415750" cy="53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6"/>
              </a:lnSpc>
              <a:spcBef>
                <a:spcPct val="0"/>
              </a:spcBef>
            </a:pP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qu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pac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34713" y="2965905"/>
            <a:ext cx="8057369" cy="19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Principalmente a administradores y responsables de gestión que necesitan acceder a información confiable y oportuna para controlar la operación y tomar decisiones.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36421" y="5926797"/>
            <a:ext cx="8253954" cy="3403369"/>
            <a:chOff x="0" y="0"/>
            <a:chExt cx="10547350" cy="43490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47350" cy="4349010"/>
            </a:xfrm>
            <a:custGeom>
              <a:avLst/>
              <a:gdLst/>
              <a:ahLst/>
              <a:cxnLst/>
              <a:rect r="r" b="b" t="t" l="l"/>
              <a:pathLst>
                <a:path h="4349010" w="10547350">
                  <a:moveTo>
                    <a:pt x="0" y="188096"/>
                  </a:moveTo>
                  <a:cubicBezTo>
                    <a:pt x="0" y="84263"/>
                    <a:pt x="66167" y="0"/>
                    <a:pt x="147701" y="0"/>
                  </a:cubicBezTo>
                  <a:lnTo>
                    <a:pt x="10399649" y="0"/>
                  </a:lnTo>
                  <a:cubicBezTo>
                    <a:pt x="10481183" y="0"/>
                    <a:pt x="10547350" y="84263"/>
                    <a:pt x="10547350" y="188096"/>
                  </a:cubicBezTo>
                  <a:lnTo>
                    <a:pt x="10547350" y="4160913"/>
                  </a:lnTo>
                  <a:cubicBezTo>
                    <a:pt x="10547350" y="4264747"/>
                    <a:pt x="10481183" y="4349010"/>
                    <a:pt x="10399649" y="4349010"/>
                  </a:cubicBezTo>
                  <a:lnTo>
                    <a:pt x="147701" y="4349010"/>
                  </a:lnTo>
                  <a:cubicBezTo>
                    <a:pt x="66167" y="4349010"/>
                    <a:pt x="0" y="4264747"/>
                    <a:pt x="0" y="4160913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391433" y="6033324"/>
            <a:ext cx="4543929" cy="53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6"/>
              </a:lnSpc>
              <a:spcBef>
                <a:spcPct val="0"/>
              </a:spcBef>
            </a:pP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ál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es e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 apor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 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v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lor</a:t>
            </a:r>
            <a:r>
              <a:rPr lang="en-US" b="true" sz="313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34713" y="6773067"/>
            <a:ext cx="8057369" cy="248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Centralizar la gestión empresarial en una plataforma modular y escalable, utilizando BI, Machine Learning y un asistente inteligente para transformar los datos operacionales en información útil para la toma de decisiones.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6866" y="2604135"/>
            <a:ext cx="3701367" cy="6920994"/>
            <a:chOff x="0" y="0"/>
            <a:chExt cx="3699263" cy="6917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99263" cy="6917061"/>
            </a:xfrm>
            <a:custGeom>
              <a:avLst/>
              <a:gdLst/>
              <a:ahLst/>
              <a:cxnLst/>
              <a:rect r="r" b="b" t="t" l="l"/>
              <a:pathLst>
                <a:path h="6917061" w="3699263">
                  <a:moveTo>
                    <a:pt x="0" y="225831"/>
                  </a:moveTo>
                  <a:cubicBezTo>
                    <a:pt x="0" y="101040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101040"/>
                    <a:pt x="3699263" y="225831"/>
                  </a:cubicBezTo>
                  <a:lnTo>
                    <a:pt x="3699263" y="6691229"/>
                  </a:lnTo>
                  <a:cubicBezTo>
                    <a:pt x="3699263" y="6816020"/>
                    <a:pt x="3676920" y="6917061"/>
                    <a:pt x="3649325" y="6917061"/>
                  </a:cubicBezTo>
                  <a:lnTo>
                    <a:pt x="49938" y="6917061"/>
                  </a:lnTo>
                  <a:cubicBezTo>
                    <a:pt x="22343" y="6917060"/>
                    <a:pt x="0" y="6816020"/>
                    <a:pt x="0" y="6691229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10644" y="2771733"/>
            <a:ext cx="3467302" cy="1106817"/>
            <a:chOff x="0" y="0"/>
            <a:chExt cx="3465331" cy="11061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65331" cy="1106188"/>
            </a:xfrm>
            <a:custGeom>
              <a:avLst/>
              <a:gdLst/>
              <a:ahLst/>
              <a:cxnLst/>
              <a:rect r="r" b="b" t="t" l="l"/>
              <a:pathLst>
                <a:path h="1106188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1106188"/>
                  </a:lnTo>
                  <a:lnTo>
                    <a:pt x="0" y="1106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274" r="-195007" b="-1048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465331" cy="117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Factibilidad de desarrollo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10644" y="4341423"/>
            <a:ext cx="3677588" cy="49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Stack tecnologico moderno.</a:t>
            </a:r>
          </a:p>
          <a:p>
            <a:pPr algn="l">
              <a:lnSpc>
                <a:spcPts val="3863"/>
              </a:lnSpc>
            </a:pP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Next.js, TypeScript, PostgreSQL, Prisma y Python.</a:t>
            </a:r>
          </a:p>
          <a:p>
            <a:pPr algn="l">
              <a:lnSpc>
                <a:spcPts val="3863"/>
              </a:lnSpc>
            </a:pP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Herramientas para desarrollo, datos y analítica.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85800" y="666750"/>
            <a:ext cx="784086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Factibilidad + Perfil de egreso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07358" y="2604135"/>
            <a:ext cx="3701367" cy="6920994"/>
            <a:chOff x="0" y="0"/>
            <a:chExt cx="3699263" cy="69170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99263" cy="6917061"/>
            </a:xfrm>
            <a:custGeom>
              <a:avLst/>
              <a:gdLst/>
              <a:ahLst/>
              <a:cxnLst/>
              <a:rect r="r" b="b" t="t" l="l"/>
              <a:pathLst>
                <a:path h="6917061" w="3699263">
                  <a:moveTo>
                    <a:pt x="0" y="225831"/>
                  </a:moveTo>
                  <a:cubicBezTo>
                    <a:pt x="0" y="101040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101040"/>
                    <a:pt x="3699263" y="225831"/>
                  </a:cubicBezTo>
                  <a:lnTo>
                    <a:pt x="3699263" y="6691229"/>
                  </a:lnTo>
                  <a:cubicBezTo>
                    <a:pt x="3699263" y="6816020"/>
                    <a:pt x="3676920" y="6917061"/>
                    <a:pt x="3649325" y="6917061"/>
                  </a:cubicBezTo>
                  <a:lnTo>
                    <a:pt x="49938" y="6917061"/>
                  </a:lnTo>
                  <a:cubicBezTo>
                    <a:pt x="22343" y="6917060"/>
                    <a:pt x="0" y="6816020"/>
                    <a:pt x="0" y="6691229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099206" y="2771733"/>
            <a:ext cx="3467302" cy="630567"/>
            <a:chOff x="0" y="0"/>
            <a:chExt cx="3465331" cy="6302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65331" cy="630209"/>
            </a:xfrm>
            <a:custGeom>
              <a:avLst/>
              <a:gdLst/>
              <a:ahLst/>
              <a:cxnLst/>
              <a:rect r="r" b="b" t="t" l="l"/>
              <a:pathLst>
                <a:path h="630209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630209"/>
                  </a:lnTo>
                  <a:lnTo>
                    <a:pt x="0" y="630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549" r="-195007" b="-2596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465331" cy="69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cursos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nib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007358" y="4360473"/>
            <a:ext cx="3650998" cy="488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864"/>
              </a:lnSpc>
              <a:buFont typeface="Arial"/>
              <a:buChar char="•"/>
            </a:pPr>
            <a:r>
              <a:rPr lang="en-US" sz="28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Equipos 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ers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nale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 d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isponibl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 para el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desarrollo.</a:t>
            </a:r>
          </a:p>
          <a:p>
            <a:pPr algn="l">
              <a:lnSpc>
                <a:spcPts val="3864"/>
              </a:lnSpc>
            </a:pPr>
          </a:p>
          <a:p>
            <a:pPr algn="l" marL="604521" indent="-302261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Repositorio y control de versiones con GitHub.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  <a:p>
            <a:pPr algn="l" marL="604521" indent="-302261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Servicios cloud como Vercel y Neon.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80225" y="2604135"/>
            <a:ext cx="3701367" cy="6753350"/>
            <a:chOff x="0" y="0"/>
            <a:chExt cx="3699263" cy="67495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99263" cy="6749511"/>
            </a:xfrm>
            <a:custGeom>
              <a:avLst/>
              <a:gdLst/>
              <a:ahLst/>
              <a:cxnLst/>
              <a:rect r="r" b="b" t="t" l="l"/>
              <a:pathLst>
                <a:path h="6749511" w="3699263">
                  <a:moveTo>
                    <a:pt x="0" y="220361"/>
                  </a:moveTo>
                  <a:cubicBezTo>
                    <a:pt x="0" y="98593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98593"/>
                    <a:pt x="3699263" y="220361"/>
                  </a:cubicBezTo>
                  <a:lnTo>
                    <a:pt x="3699263" y="6529150"/>
                  </a:lnTo>
                  <a:cubicBezTo>
                    <a:pt x="3699263" y="6650919"/>
                    <a:pt x="3676920" y="6749511"/>
                    <a:pt x="3649325" y="6749511"/>
                  </a:cubicBezTo>
                  <a:lnTo>
                    <a:pt x="49938" y="6749511"/>
                  </a:lnTo>
                  <a:cubicBezTo>
                    <a:pt x="22343" y="6749510"/>
                    <a:pt x="0" y="6650918"/>
                    <a:pt x="0" y="6529150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397257" y="2771733"/>
            <a:ext cx="3467302" cy="1106817"/>
            <a:chOff x="0" y="0"/>
            <a:chExt cx="3465331" cy="11061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65331" cy="1106188"/>
            </a:xfrm>
            <a:custGeom>
              <a:avLst/>
              <a:gdLst/>
              <a:ahLst/>
              <a:cxnLst/>
              <a:rect r="r" b="b" t="t" l="l"/>
              <a:pathLst>
                <a:path h="1106188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1106188"/>
                  </a:lnTo>
                  <a:lnTo>
                    <a:pt x="0" y="1106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274" r="-195007" b="-1048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465331" cy="117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Factibilidad 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mpor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397257" y="4342624"/>
            <a:ext cx="3467302" cy="3894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Desarrollo  18 semanas.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Priorización del núcleo de gestión.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Avance organizado por etapas.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600716" y="2604135"/>
            <a:ext cx="3701367" cy="6629439"/>
            <a:chOff x="0" y="0"/>
            <a:chExt cx="3699263" cy="66256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99263" cy="6625672"/>
            </a:xfrm>
            <a:custGeom>
              <a:avLst/>
              <a:gdLst/>
              <a:ahLst/>
              <a:cxnLst/>
              <a:rect r="r" b="b" t="t" l="l"/>
              <a:pathLst>
                <a:path h="6625672" w="3699263">
                  <a:moveTo>
                    <a:pt x="0" y="216318"/>
                  </a:moveTo>
                  <a:cubicBezTo>
                    <a:pt x="0" y="96784"/>
                    <a:pt x="22343" y="0"/>
                    <a:pt x="49938" y="0"/>
                  </a:cubicBezTo>
                  <a:lnTo>
                    <a:pt x="3649325" y="0"/>
                  </a:lnTo>
                  <a:cubicBezTo>
                    <a:pt x="3676920" y="0"/>
                    <a:pt x="3699263" y="96784"/>
                    <a:pt x="3699263" y="216318"/>
                  </a:cubicBezTo>
                  <a:lnTo>
                    <a:pt x="3699263" y="6409353"/>
                  </a:lnTo>
                  <a:cubicBezTo>
                    <a:pt x="3699263" y="6528888"/>
                    <a:pt x="3676920" y="6625672"/>
                    <a:pt x="3649325" y="6625672"/>
                  </a:cubicBezTo>
                  <a:lnTo>
                    <a:pt x="49938" y="6625672"/>
                  </a:lnTo>
                  <a:cubicBezTo>
                    <a:pt x="22343" y="6625671"/>
                    <a:pt x="0" y="6528888"/>
                    <a:pt x="0" y="6409353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17749" y="2771733"/>
            <a:ext cx="3467302" cy="630567"/>
            <a:chOff x="0" y="0"/>
            <a:chExt cx="3465331" cy="6302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65331" cy="630209"/>
            </a:xfrm>
            <a:custGeom>
              <a:avLst/>
              <a:gdLst/>
              <a:ahLst/>
              <a:cxnLst/>
              <a:rect r="r" b="b" t="t" l="l"/>
              <a:pathLst>
                <a:path h="630209" w="3465331">
                  <a:moveTo>
                    <a:pt x="0" y="0"/>
                  </a:moveTo>
                  <a:lnTo>
                    <a:pt x="3465331" y="0"/>
                  </a:lnTo>
                  <a:lnTo>
                    <a:pt x="3465331" y="630209"/>
                  </a:lnTo>
                  <a:lnTo>
                    <a:pt x="0" y="630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549" r="-195007" b="-2596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3465331" cy="696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ies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gos cont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667391" y="3087929"/>
            <a:ext cx="3467302" cy="582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  <a:spcBef>
                <a:spcPct val="0"/>
              </a:spcBef>
            </a:pP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Disponibilidad limitada de datos para ML.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Caso real de implementacion </a:t>
            </a:r>
          </a:p>
          <a:p>
            <a:pPr algn="l">
              <a:lnSpc>
                <a:spcPts val="3864"/>
              </a:lnSpc>
              <a:spcBef>
                <a:spcPct val="0"/>
              </a:spcBef>
            </a:pPr>
          </a:p>
          <a:p>
            <a:pPr algn="l" marL="604520" indent="-302260" lvl="1">
              <a:lnSpc>
                <a:spcPts val="3864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Arquitectura modular</a:t>
            </a: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para ajustar el alcance si es necesario.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7338" y="1914287"/>
            <a:ext cx="16927120" cy="2521934"/>
            <a:chOff x="0" y="0"/>
            <a:chExt cx="22569494" cy="33625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69495" cy="3362579"/>
            </a:xfrm>
            <a:custGeom>
              <a:avLst/>
              <a:gdLst/>
              <a:ahLst/>
              <a:cxnLst/>
              <a:rect r="r" b="b" t="t" l="l"/>
              <a:pathLst>
                <a:path h="3362579" w="22569495">
                  <a:moveTo>
                    <a:pt x="0" y="173567"/>
                  </a:moveTo>
                  <a:cubicBezTo>
                    <a:pt x="0" y="77770"/>
                    <a:pt x="68651" y="0"/>
                    <a:pt x="153216" y="0"/>
                  </a:cubicBezTo>
                  <a:lnTo>
                    <a:pt x="22416278" y="0"/>
                  </a:lnTo>
                  <a:cubicBezTo>
                    <a:pt x="22500842" y="0"/>
                    <a:pt x="22569495" y="77770"/>
                    <a:pt x="22569495" y="173567"/>
                  </a:cubicBezTo>
                  <a:lnTo>
                    <a:pt x="22569495" y="3189012"/>
                  </a:lnTo>
                  <a:cubicBezTo>
                    <a:pt x="22569495" y="3284809"/>
                    <a:pt x="22500842" y="3362579"/>
                    <a:pt x="22416278" y="3362579"/>
                  </a:cubicBezTo>
                  <a:lnTo>
                    <a:pt x="153216" y="3362579"/>
                  </a:lnTo>
                  <a:cubicBezTo>
                    <a:pt x="68651" y="3362579"/>
                    <a:pt x="0" y="3284809"/>
                    <a:pt x="0" y="3189012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2010667"/>
            <a:ext cx="2878237" cy="630567"/>
            <a:chOff x="0" y="0"/>
            <a:chExt cx="3837649" cy="8407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37649" cy="840757"/>
            </a:xfrm>
            <a:custGeom>
              <a:avLst/>
              <a:gdLst/>
              <a:ahLst/>
              <a:cxnLst/>
              <a:rect r="r" b="b" t="t" l="l"/>
              <a:pathLst>
                <a:path h="840757" w="3837649">
                  <a:moveTo>
                    <a:pt x="0" y="0"/>
                  </a:moveTo>
                  <a:lnTo>
                    <a:pt x="3837649" y="0"/>
                  </a:lnTo>
                  <a:lnTo>
                    <a:pt x="3837649" y="840757"/>
                  </a:lnTo>
                  <a:lnTo>
                    <a:pt x="0" y="840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478" r="-449929" b="-4217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837649" cy="907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4863227"/>
            <a:ext cx="16901498" cy="4469606"/>
            <a:chOff x="0" y="0"/>
            <a:chExt cx="22535331" cy="5959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35330" cy="5959475"/>
            </a:xfrm>
            <a:custGeom>
              <a:avLst/>
              <a:gdLst/>
              <a:ahLst/>
              <a:cxnLst/>
              <a:rect r="r" b="b" t="t" l="l"/>
              <a:pathLst>
                <a:path h="5959475" w="22535330">
                  <a:moveTo>
                    <a:pt x="0" y="232614"/>
                  </a:moveTo>
                  <a:cubicBezTo>
                    <a:pt x="0" y="104096"/>
                    <a:pt x="68285" y="0"/>
                    <a:pt x="152590" y="0"/>
                  </a:cubicBezTo>
                  <a:lnTo>
                    <a:pt x="22382739" y="0"/>
                  </a:lnTo>
                  <a:cubicBezTo>
                    <a:pt x="22467046" y="0"/>
                    <a:pt x="22535330" y="104096"/>
                    <a:pt x="22535330" y="232614"/>
                  </a:cubicBezTo>
                  <a:lnTo>
                    <a:pt x="22535330" y="5726861"/>
                  </a:lnTo>
                  <a:cubicBezTo>
                    <a:pt x="22535330" y="5855379"/>
                    <a:pt x="22467046" y="5959475"/>
                    <a:pt x="22382739" y="5959475"/>
                  </a:cubicBezTo>
                  <a:lnTo>
                    <a:pt x="152590" y="5959475"/>
                  </a:lnTo>
                  <a:cubicBezTo>
                    <a:pt x="68285" y="5959475"/>
                    <a:pt x="0" y="5855379"/>
                    <a:pt x="0" y="5726861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56132" y="5035487"/>
            <a:ext cx="3639071" cy="630567"/>
            <a:chOff x="0" y="0"/>
            <a:chExt cx="4852095" cy="8407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2095" cy="840757"/>
            </a:xfrm>
            <a:custGeom>
              <a:avLst/>
              <a:gdLst/>
              <a:ahLst/>
              <a:cxnLst/>
              <a:rect r="r" b="b" t="t" l="l"/>
              <a:pathLst>
                <a:path h="840757" w="4852095">
                  <a:moveTo>
                    <a:pt x="0" y="0"/>
                  </a:moveTo>
                  <a:lnTo>
                    <a:pt x="4852095" y="0"/>
                  </a:lnTo>
                  <a:lnTo>
                    <a:pt x="4852095" y="840757"/>
                  </a:lnTo>
                  <a:lnTo>
                    <a:pt x="0" y="840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478" r="-334953" b="-4217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852095" cy="907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3756"/>
                </a:lnSpc>
                <a:spcBef>
                  <a:spcPct val="0"/>
                </a:spcBef>
              </a:pPr>
              <a:r>
                <a:rPr lang="en-US" b="true" sz="31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720651" y="4957014"/>
            <a:ext cx="2045221" cy="2045221"/>
          </a:xfrm>
          <a:custGeom>
            <a:avLst/>
            <a:gdLst/>
            <a:ahLst/>
            <a:cxnLst/>
            <a:rect r="r" b="b" t="t" l="l"/>
            <a:pathLst>
              <a:path h="2045221" w="2045221">
                <a:moveTo>
                  <a:pt x="0" y="0"/>
                </a:moveTo>
                <a:lnTo>
                  <a:pt x="2045222" y="0"/>
                </a:lnTo>
                <a:lnTo>
                  <a:pt x="2045222" y="2045221"/>
                </a:lnTo>
                <a:lnTo>
                  <a:pt x="0" y="2045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40606" y="5676389"/>
            <a:ext cx="15883128" cy="344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4536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Desarrollar módulos de gestión de ventas, inventario, clientes y administración.</a:t>
            </a:r>
          </a:p>
          <a:p>
            <a:pPr algn="l" marL="604521" indent="-302261" lvl="1">
              <a:lnSpc>
                <a:spcPts val="4536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Diseñar un modelo de datos centralizado y escalable.</a:t>
            </a:r>
          </a:p>
          <a:p>
            <a:pPr algn="l" marL="604521" indent="-302261" lvl="1">
              <a:lnSpc>
                <a:spcPts val="4536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Implementar controles de inventario y trazabilidad de movimientos.</a:t>
            </a:r>
          </a:p>
          <a:p>
            <a:pPr algn="l" marL="604521" indent="-302261" lvl="1">
              <a:lnSpc>
                <a:spcPts val="4536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Construir indicadores y visualizaciones mediante inteligencia de negocios.</a:t>
            </a:r>
          </a:p>
          <a:p>
            <a:pPr algn="l" marL="604521" indent="-302261" lvl="1">
              <a:lnSpc>
                <a:spcPts val="4536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Aplicar Machine Learning para segmentación de clientes y predicción de demanda.</a:t>
            </a:r>
          </a:p>
          <a:p>
            <a:pPr algn="l" marL="604521" indent="-302261" lvl="1">
              <a:lnSpc>
                <a:spcPts val="4536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Integrar un asistente inteligente para consultas empresariales en lenguaje natural.*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560739" y="7251711"/>
            <a:ext cx="1735307" cy="1858668"/>
          </a:xfrm>
          <a:custGeom>
            <a:avLst/>
            <a:gdLst/>
            <a:ahLst/>
            <a:cxnLst/>
            <a:rect r="r" b="b" t="t" l="l"/>
            <a:pathLst>
              <a:path h="1858668" w="1735307">
                <a:moveTo>
                  <a:pt x="0" y="0"/>
                </a:moveTo>
                <a:lnTo>
                  <a:pt x="1735307" y="0"/>
                </a:lnTo>
                <a:lnTo>
                  <a:pt x="1735307" y="1858668"/>
                </a:lnTo>
                <a:lnTo>
                  <a:pt x="0" y="1858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54" t="0" r="-3554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129959" y="5629621"/>
            <a:ext cx="1531122" cy="1531122"/>
          </a:xfrm>
          <a:custGeom>
            <a:avLst/>
            <a:gdLst/>
            <a:ahLst/>
            <a:cxnLst/>
            <a:rect r="r" b="b" t="t" l="l"/>
            <a:pathLst>
              <a:path h="1531122" w="1531122">
                <a:moveTo>
                  <a:pt x="0" y="0"/>
                </a:moveTo>
                <a:lnTo>
                  <a:pt x="1531122" y="0"/>
                </a:lnTo>
                <a:lnTo>
                  <a:pt x="1531122" y="1531121"/>
                </a:lnTo>
                <a:lnTo>
                  <a:pt x="0" y="1531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115514" y="1777924"/>
            <a:ext cx="2608944" cy="2608944"/>
          </a:xfrm>
          <a:custGeom>
            <a:avLst/>
            <a:gdLst/>
            <a:ahLst/>
            <a:cxnLst/>
            <a:rect r="r" b="b" t="t" l="l"/>
            <a:pathLst>
              <a:path h="2608944" w="2608944">
                <a:moveTo>
                  <a:pt x="0" y="0"/>
                </a:moveTo>
                <a:lnTo>
                  <a:pt x="2608944" y="0"/>
                </a:lnTo>
                <a:lnTo>
                  <a:pt x="2608944" y="2608945"/>
                </a:lnTo>
                <a:lnTo>
                  <a:pt x="0" y="26089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56132" y="2698385"/>
            <a:ext cx="14496805" cy="150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  <a:r>
              <a:rPr lang="en-US" sz="2799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Diseñar e implementar una plataforma web modular de gestión empresarial para PyMEs, que integre ventas, inventario, clientes y administración, incorporando Business Intelligence, Machine Learning y herramientas inteligentes para apoyar la toma de decisiones.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5800" y="552212"/>
            <a:ext cx="249093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24307" y="2436516"/>
            <a:ext cx="6726963" cy="6716987"/>
            <a:chOff x="0" y="0"/>
            <a:chExt cx="8054956" cy="80430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54956" cy="8043011"/>
            </a:xfrm>
            <a:custGeom>
              <a:avLst/>
              <a:gdLst/>
              <a:ahLst/>
              <a:cxnLst/>
              <a:rect r="r" b="b" t="t" l="l"/>
              <a:pathLst>
                <a:path h="8043011" w="8054956">
                  <a:moveTo>
                    <a:pt x="0" y="321720"/>
                  </a:moveTo>
                  <a:cubicBezTo>
                    <a:pt x="0" y="143971"/>
                    <a:pt x="24408" y="0"/>
                    <a:pt x="54541" y="0"/>
                  </a:cubicBezTo>
                  <a:lnTo>
                    <a:pt x="8000414" y="0"/>
                  </a:lnTo>
                  <a:cubicBezTo>
                    <a:pt x="8030548" y="0"/>
                    <a:pt x="8054956" y="143971"/>
                    <a:pt x="8054956" y="321720"/>
                  </a:cubicBezTo>
                  <a:lnTo>
                    <a:pt x="8054956" y="7721291"/>
                  </a:lnTo>
                  <a:cubicBezTo>
                    <a:pt x="8054956" y="7899040"/>
                    <a:pt x="8030548" y="8043011"/>
                    <a:pt x="8000414" y="8043011"/>
                  </a:cubicBezTo>
                  <a:lnTo>
                    <a:pt x="54541" y="8043011"/>
                  </a:lnTo>
                  <a:cubicBezTo>
                    <a:pt x="24408" y="8043011"/>
                    <a:pt x="0" y="7899039"/>
                    <a:pt x="0" y="7721291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91500" y="2505932"/>
            <a:ext cx="6726963" cy="846720"/>
            <a:chOff x="0" y="0"/>
            <a:chExt cx="8054956" cy="1013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54956" cy="1013874"/>
            </a:xfrm>
            <a:custGeom>
              <a:avLst/>
              <a:gdLst/>
              <a:ahLst/>
              <a:cxnLst/>
              <a:rect r="r" b="b" t="t" l="l"/>
              <a:pathLst>
                <a:path h="1013874" w="8054956">
                  <a:moveTo>
                    <a:pt x="0" y="0"/>
                  </a:moveTo>
                  <a:lnTo>
                    <a:pt x="8054956" y="0"/>
                  </a:lnTo>
                  <a:lnTo>
                    <a:pt x="8054956" y="1013874"/>
                  </a:lnTo>
                  <a:lnTo>
                    <a:pt x="0" y="10138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535" r="-162004" b="-3326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8054956" cy="1099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076"/>
                </a:lnSpc>
                <a:spcBef>
                  <a:spcPct val="0"/>
                </a:spcBef>
              </a:pPr>
              <a:r>
                <a:rPr lang="en-US" b="true" sz="42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Scrum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02345" y="2436516"/>
            <a:ext cx="6726963" cy="6716987"/>
            <a:chOff x="0" y="0"/>
            <a:chExt cx="8054956" cy="80430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54956" cy="8043011"/>
            </a:xfrm>
            <a:custGeom>
              <a:avLst/>
              <a:gdLst/>
              <a:ahLst/>
              <a:cxnLst/>
              <a:rect r="r" b="b" t="t" l="l"/>
              <a:pathLst>
                <a:path h="8043011" w="8054956">
                  <a:moveTo>
                    <a:pt x="0" y="321720"/>
                  </a:moveTo>
                  <a:cubicBezTo>
                    <a:pt x="0" y="143971"/>
                    <a:pt x="24408" y="0"/>
                    <a:pt x="54541" y="0"/>
                  </a:cubicBezTo>
                  <a:lnTo>
                    <a:pt x="8000414" y="0"/>
                  </a:lnTo>
                  <a:cubicBezTo>
                    <a:pt x="8030548" y="0"/>
                    <a:pt x="8054956" y="143971"/>
                    <a:pt x="8054956" y="321720"/>
                  </a:cubicBezTo>
                  <a:lnTo>
                    <a:pt x="8054956" y="7721291"/>
                  </a:lnTo>
                  <a:cubicBezTo>
                    <a:pt x="8054956" y="7899040"/>
                    <a:pt x="8030548" y="8043011"/>
                    <a:pt x="8000414" y="8043011"/>
                  </a:cubicBezTo>
                  <a:lnTo>
                    <a:pt x="54541" y="8043011"/>
                  </a:lnTo>
                  <a:cubicBezTo>
                    <a:pt x="24408" y="8043011"/>
                    <a:pt x="0" y="7899039"/>
                    <a:pt x="0" y="7721291"/>
                  </a:cubicBezTo>
                  <a:close/>
                </a:path>
              </a:pathLst>
            </a:custGeom>
            <a:solidFill>
              <a:srgbClr val="EEF1FB"/>
            </a:solidFill>
            <a:ln cap="sq">
              <a:noFill/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802345" y="2505932"/>
            <a:ext cx="6726963" cy="846720"/>
            <a:chOff x="0" y="0"/>
            <a:chExt cx="8054956" cy="10138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54956" cy="1013874"/>
            </a:xfrm>
            <a:custGeom>
              <a:avLst/>
              <a:gdLst/>
              <a:ahLst/>
              <a:cxnLst/>
              <a:rect r="r" b="b" t="t" l="l"/>
              <a:pathLst>
                <a:path h="1013874" w="8054956">
                  <a:moveTo>
                    <a:pt x="0" y="0"/>
                  </a:moveTo>
                  <a:lnTo>
                    <a:pt x="8054956" y="0"/>
                  </a:lnTo>
                  <a:lnTo>
                    <a:pt x="8054956" y="1013874"/>
                  </a:lnTo>
                  <a:lnTo>
                    <a:pt x="0" y="10138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535" r="-162004" b="-3326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8054956" cy="1099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076"/>
                </a:lnSpc>
                <a:spcBef>
                  <a:spcPct val="0"/>
                </a:spcBef>
              </a:pPr>
              <a:r>
                <a:rPr lang="en-US" b="true" sz="42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CRISP-DM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58692" y="3149211"/>
            <a:ext cx="6792577" cy="525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Desarrollo incremental por etapas(sprints).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Organización de tareas mediante backlog.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Revisión periódica de avances.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Priorización de funcionalidades según valor y factibilidad.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Integración progresiva de módulos.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03923" y="3419630"/>
            <a:ext cx="6726963" cy="435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Comprensión del problema.</a:t>
            </a:r>
          </a:p>
          <a:p>
            <a:pPr algn="l" marL="604521" indent="-302261" lvl="1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Preparación y análisis de datos.</a:t>
            </a:r>
          </a:p>
          <a:p>
            <a:pPr algn="l" marL="604521" indent="-302261" lvl="1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Modelamiento.</a:t>
            </a:r>
          </a:p>
          <a:p>
            <a:pPr algn="l" marL="604521" indent="-302261" lvl="1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Evaluación de resultados.</a:t>
            </a:r>
          </a:p>
          <a:p>
            <a:pPr algn="l" marL="604521" indent="-302261" lvl="1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i="true" strike="noStrike" u="non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Integración de los modelos al sistema.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1856" y="1146810"/>
            <a:ext cx="327198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Metodología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58916" y="2345423"/>
            <a:ext cx="3306128" cy="1438990"/>
            <a:chOff x="0" y="0"/>
            <a:chExt cx="4408170" cy="19186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081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1E2761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875788" y="2360107"/>
            <a:ext cx="3072384" cy="1409623"/>
            <a:chOff x="0" y="0"/>
            <a:chExt cx="4096512" cy="18794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96512" cy="1879497"/>
            </a:xfrm>
            <a:custGeom>
              <a:avLst/>
              <a:gdLst/>
              <a:ahLst/>
              <a:cxnLst/>
              <a:rect r="r" b="b" t="t" l="l"/>
              <a:pathLst>
                <a:path h="1879497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879497"/>
                  </a:lnTo>
                  <a:lnTo>
                    <a:pt x="0" y="1879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43" r="0" b="3320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096512" cy="1946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sz="27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 (avance / final)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50756" y="2345423"/>
            <a:ext cx="4129088" cy="1438990"/>
            <a:chOff x="0" y="0"/>
            <a:chExt cx="5505450" cy="19186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05450" cy="1918653"/>
            </a:xfrm>
            <a:custGeom>
              <a:avLst/>
              <a:gdLst/>
              <a:ahLst/>
              <a:cxnLst/>
              <a:rect r="r" b="b" t="t" l="l"/>
              <a:pathLst>
                <a:path h="1918653" w="5505450">
                  <a:moveTo>
                    <a:pt x="0" y="0"/>
                  </a:moveTo>
                  <a:lnTo>
                    <a:pt x="5505450" y="0"/>
                  </a:lnTo>
                  <a:lnTo>
                    <a:pt x="550545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1E2761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167628" y="2345423"/>
            <a:ext cx="3895344" cy="1409623"/>
            <a:chOff x="0" y="0"/>
            <a:chExt cx="5193792" cy="1879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93792" cy="1879497"/>
            </a:xfrm>
            <a:custGeom>
              <a:avLst/>
              <a:gdLst/>
              <a:ahLst/>
              <a:cxnLst/>
              <a:rect r="r" b="b" t="t" l="l"/>
              <a:pathLst>
                <a:path h="1879497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1879497"/>
                  </a:lnTo>
                  <a:lnTo>
                    <a:pt x="0" y="1879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19" r="0" b="218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193792" cy="1946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sz="27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Nombre de la evidencia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65556" y="2345423"/>
            <a:ext cx="5363528" cy="1438990"/>
            <a:chOff x="0" y="0"/>
            <a:chExt cx="7151370" cy="19186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7151370">
                  <a:moveTo>
                    <a:pt x="0" y="0"/>
                  </a:moveTo>
                  <a:lnTo>
                    <a:pt x="7151370" y="0"/>
                  </a:lnTo>
                  <a:lnTo>
                    <a:pt x="71513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1E2761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2428" y="2360107"/>
            <a:ext cx="5129784" cy="1409623"/>
            <a:chOff x="0" y="0"/>
            <a:chExt cx="6839712" cy="1879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39712" cy="1879497"/>
            </a:xfrm>
            <a:custGeom>
              <a:avLst/>
              <a:gdLst/>
              <a:ahLst/>
              <a:cxnLst/>
              <a:rect r="r" b="b" t="t" l="l"/>
              <a:pathLst>
                <a:path h="1879497" w="6839712">
                  <a:moveTo>
                    <a:pt x="0" y="0"/>
                  </a:moveTo>
                  <a:lnTo>
                    <a:pt x="6839712" y="0"/>
                  </a:lnTo>
                  <a:lnTo>
                    <a:pt x="6839712" y="1879497"/>
                  </a:lnTo>
                  <a:lnTo>
                    <a:pt x="0" y="1879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82" r="0" b="47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839712" cy="1946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9"/>
                </a:lnSpc>
              </a:pPr>
              <a:r>
                <a:rPr lang="en-US" sz="27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58916" y="3755046"/>
            <a:ext cx="3306128" cy="1438990"/>
            <a:chOff x="0" y="0"/>
            <a:chExt cx="4408170" cy="19186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081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050756" y="3755046"/>
            <a:ext cx="4129088" cy="1438990"/>
            <a:chOff x="0" y="0"/>
            <a:chExt cx="5505450" cy="19186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05450" cy="1918653"/>
            </a:xfrm>
            <a:custGeom>
              <a:avLst/>
              <a:gdLst/>
              <a:ahLst/>
              <a:cxnLst/>
              <a:rect r="r" b="b" t="t" l="l"/>
              <a:pathLst>
                <a:path h="1918653" w="5505450">
                  <a:moveTo>
                    <a:pt x="0" y="0"/>
                  </a:moveTo>
                  <a:lnTo>
                    <a:pt x="5505450" y="0"/>
                  </a:lnTo>
                  <a:lnTo>
                    <a:pt x="550545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165556" y="3755046"/>
            <a:ext cx="5363528" cy="1438990"/>
            <a:chOff x="0" y="0"/>
            <a:chExt cx="7151370" cy="19186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7151370">
                  <a:moveTo>
                    <a:pt x="0" y="0"/>
                  </a:moveTo>
                  <a:lnTo>
                    <a:pt x="7151370" y="0"/>
                  </a:lnTo>
                  <a:lnTo>
                    <a:pt x="71513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758916" y="5164669"/>
            <a:ext cx="3306128" cy="1438990"/>
            <a:chOff x="0" y="0"/>
            <a:chExt cx="4408170" cy="19186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081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6F7FC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050756" y="5164669"/>
            <a:ext cx="4129088" cy="1438990"/>
            <a:chOff x="0" y="0"/>
            <a:chExt cx="5505450" cy="191865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05450" cy="1918653"/>
            </a:xfrm>
            <a:custGeom>
              <a:avLst/>
              <a:gdLst/>
              <a:ahLst/>
              <a:cxnLst/>
              <a:rect r="r" b="b" t="t" l="l"/>
              <a:pathLst>
                <a:path h="1918653" w="5505450">
                  <a:moveTo>
                    <a:pt x="0" y="0"/>
                  </a:moveTo>
                  <a:lnTo>
                    <a:pt x="5505450" y="0"/>
                  </a:lnTo>
                  <a:lnTo>
                    <a:pt x="550545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6F7FC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165556" y="5164669"/>
            <a:ext cx="5363528" cy="1438990"/>
            <a:chOff x="0" y="0"/>
            <a:chExt cx="7151370" cy="191865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513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7151370">
                  <a:moveTo>
                    <a:pt x="0" y="0"/>
                  </a:moveTo>
                  <a:lnTo>
                    <a:pt x="7151370" y="0"/>
                  </a:lnTo>
                  <a:lnTo>
                    <a:pt x="71513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6F7FC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2758916" y="6574292"/>
            <a:ext cx="3306128" cy="1438990"/>
            <a:chOff x="0" y="0"/>
            <a:chExt cx="4408170" cy="19186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081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50756" y="6574292"/>
            <a:ext cx="4129088" cy="1438990"/>
            <a:chOff x="0" y="0"/>
            <a:chExt cx="5505450" cy="19186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05450" cy="1918653"/>
            </a:xfrm>
            <a:custGeom>
              <a:avLst/>
              <a:gdLst/>
              <a:ahLst/>
              <a:cxnLst/>
              <a:rect r="r" b="b" t="t" l="l"/>
              <a:pathLst>
                <a:path h="1918653" w="5505450">
                  <a:moveTo>
                    <a:pt x="0" y="0"/>
                  </a:moveTo>
                  <a:lnTo>
                    <a:pt x="5505450" y="0"/>
                  </a:lnTo>
                  <a:lnTo>
                    <a:pt x="550545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165556" y="6574292"/>
            <a:ext cx="5363528" cy="1438990"/>
            <a:chOff x="0" y="0"/>
            <a:chExt cx="7151370" cy="19186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513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7151370">
                  <a:moveTo>
                    <a:pt x="0" y="0"/>
                  </a:moveTo>
                  <a:lnTo>
                    <a:pt x="7151370" y="0"/>
                  </a:lnTo>
                  <a:lnTo>
                    <a:pt x="71513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2758916" y="7983915"/>
            <a:ext cx="3306128" cy="1438990"/>
            <a:chOff x="0" y="0"/>
            <a:chExt cx="4408170" cy="19186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081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6F7FC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050756" y="7983915"/>
            <a:ext cx="4129088" cy="1438990"/>
            <a:chOff x="0" y="0"/>
            <a:chExt cx="5505450" cy="191865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05450" cy="1918653"/>
            </a:xfrm>
            <a:custGeom>
              <a:avLst/>
              <a:gdLst/>
              <a:ahLst/>
              <a:cxnLst/>
              <a:rect r="r" b="b" t="t" l="l"/>
              <a:pathLst>
                <a:path h="1918653" w="5505450">
                  <a:moveTo>
                    <a:pt x="0" y="0"/>
                  </a:moveTo>
                  <a:lnTo>
                    <a:pt x="5505450" y="0"/>
                  </a:lnTo>
                  <a:lnTo>
                    <a:pt x="550545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6F7FC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165556" y="7983915"/>
            <a:ext cx="5363528" cy="1438990"/>
            <a:chOff x="0" y="0"/>
            <a:chExt cx="7151370" cy="19186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1918653"/>
            </a:xfrm>
            <a:custGeom>
              <a:avLst/>
              <a:gdLst/>
              <a:ahLst/>
              <a:cxnLst/>
              <a:rect r="r" b="b" t="t" l="l"/>
              <a:pathLst>
                <a:path h="1918653" w="7151370">
                  <a:moveTo>
                    <a:pt x="0" y="0"/>
                  </a:moveTo>
                  <a:lnTo>
                    <a:pt x="7151370" y="0"/>
                  </a:lnTo>
                  <a:lnTo>
                    <a:pt x="7151370" y="1918653"/>
                  </a:lnTo>
                  <a:lnTo>
                    <a:pt x="0" y="1918653"/>
                  </a:lnTo>
                  <a:close/>
                </a:path>
              </a:pathLst>
            </a:custGeom>
            <a:solidFill>
              <a:srgbClr val="F6F7FC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19920" y="3162188"/>
            <a:ext cx="2291347" cy="2291347"/>
          </a:xfrm>
          <a:custGeom>
            <a:avLst/>
            <a:gdLst/>
            <a:ahLst/>
            <a:cxnLst/>
            <a:rect r="r" b="b" t="t" l="l"/>
            <a:pathLst>
              <a:path h="2291347" w="2291347">
                <a:moveTo>
                  <a:pt x="0" y="0"/>
                </a:moveTo>
                <a:lnTo>
                  <a:pt x="2291346" y="0"/>
                </a:lnTo>
                <a:lnTo>
                  <a:pt x="2291346" y="2291346"/>
                </a:lnTo>
                <a:lnTo>
                  <a:pt x="0" y="2291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5681484" y="4486083"/>
            <a:ext cx="2365532" cy="2365532"/>
          </a:xfrm>
          <a:custGeom>
            <a:avLst/>
            <a:gdLst/>
            <a:ahLst/>
            <a:cxnLst/>
            <a:rect r="r" b="b" t="t" l="l"/>
            <a:pathLst>
              <a:path h="2365532" w="2365532">
                <a:moveTo>
                  <a:pt x="0" y="0"/>
                </a:moveTo>
                <a:lnTo>
                  <a:pt x="2365532" y="0"/>
                </a:lnTo>
                <a:lnTo>
                  <a:pt x="2365532" y="2365532"/>
                </a:lnTo>
                <a:lnTo>
                  <a:pt x="0" y="2365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360048" y="6314794"/>
            <a:ext cx="2011090" cy="2011090"/>
          </a:xfrm>
          <a:custGeom>
            <a:avLst/>
            <a:gdLst/>
            <a:ahLst/>
            <a:cxnLst/>
            <a:rect r="r" b="b" t="t" l="l"/>
            <a:pathLst>
              <a:path h="2011090" w="2011090">
                <a:moveTo>
                  <a:pt x="0" y="0"/>
                </a:moveTo>
                <a:lnTo>
                  <a:pt x="2011090" y="0"/>
                </a:lnTo>
                <a:lnTo>
                  <a:pt x="2011090" y="2011090"/>
                </a:lnTo>
                <a:lnTo>
                  <a:pt x="0" y="20110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712766" y="4245770"/>
            <a:ext cx="1178566" cy="4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712766" y="5611699"/>
            <a:ext cx="1110790" cy="4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Avance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905318" y="6921551"/>
            <a:ext cx="725685" cy="4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905318" y="8384757"/>
            <a:ext cx="725685" cy="4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89779" y="8430945"/>
            <a:ext cx="3873193" cy="4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Platafo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rada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263292" y="7021322"/>
            <a:ext cx="3873193" cy="4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y modelo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nalí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ic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065044" y="5396384"/>
            <a:ext cx="3873193" cy="91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Mó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ión funci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nale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026963" y="4027185"/>
            <a:ext cx="4109522" cy="91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Arquitectura y modelo de datos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93534" y="4027185"/>
            <a:ext cx="5235550" cy="91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 la solución fue diseñada de forma modular y coherente.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80087" y="5181070"/>
            <a:ext cx="4934465" cy="134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vent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s,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inventari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 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ción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nan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nte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ractúan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80087" y="6706236"/>
            <a:ext cx="4934465" cy="134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 l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 d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til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ador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es,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ción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y 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dicció</a:t>
            </a: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80087" y="8215630"/>
            <a:ext cx="4934465" cy="91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2"/>
              </a:lnSpc>
              <a:spcBef>
                <a:spcPct val="0"/>
              </a:spcBef>
            </a:pPr>
            <a:r>
              <a:rPr lang="en-US" b="true" sz="2885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 la solución fue diseñada de forma modular y coherente.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5630931" y="7559673"/>
            <a:ext cx="2287474" cy="2287474"/>
          </a:xfrm>
          <a:custGeom>
            <a:avLst/>
            <a:gdLst/>
            <a:ahLst/>
            <a:cxnLst/>
            <a:rect r="r" b="b" t="t" l="l"/>
            <a:pathLst>
              <a:path h="2287474" w="2287474">
                <a:moveTo>
                  <a:pt x="0" y="0"/>
                </a:moveTo>
                <a:lnTo>
                  <a:pt x="2287474" y="0"/>
                </a:lnTo>
                <a:lnTo>
                  <a:pt x="2287474" y="2287474"/>
                </a:lnTo>
                <a:lnTo>
                  <a:pt x="0" y="22874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685800" y="916673"/>
            <a:ext cx="144018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Evidencias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4668" y="685800"/>
            <a:ext cx="822960" cy="822960"/>
            <a:chOff x="0" y="0"/>
            <a:chExt cx="109728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47672"/>
            <a:ext cx="14813280" cy="548640"/>
            <a:chOff x="0" y="0"/>
            <a:chExt cx="19751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751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Organiza las actividades planificadas según las tres fases del semestre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3435" y="2939415"/>
            <a:ext cx="3646170" cy="704850"/>
            <a:chOff x="0" y="0"/>
            <a:chExt cx="4861560" cy="939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1560" cy="939800"/>
            </a:xfrm>
            <a:custGeom>
              <a:avLst/>
              <a:gdLst/>
              <a:ahLst/>
              <a:cxnLst/>
              <a:rect r="r" b="b" t="t" l="l"/>
              <a:pathLst>
                <a:path h="939800" w="4861560">
                  <a:moveTo>
                    <a:pt x="0" y="0"/>
                  </a:moveTo>
                  <a:lnTo>
                    <a:pt x="4861560" y="0"/>
                  </a:lnTo>
                  <a:lnTo>
                    <a:pt x="486156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948940"/>
            <a:ext cx="3627120" cy="685800"/>
            <a:chOff x="0" y="0"/>
            <a:chExt cx="483616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3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4836160">
                  <a:moveTo>
                    <a:pt x="0" y="0"/>
                  </a:moveTo>
                  <a:lnTo>
                    <a:pt x="4836160" y="0"/>
                  </a:lnTo>
                  <a:lnTo>
                    <a:pt x="483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54" r="0" b="-5305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361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 · S1–S4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40555" y="2939415"/>
            <a:ext cx="9993630" cy="704850"/>
            <a:chOff x="0" y="0"/>
            <a:chExt cx="1332484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24839" cy="939800"/>
            </a:xfrm>
            <a:custGeom>
              <a:avLst/>
              <a:gdLst/>
              <a:ahLst/>
              <a:cxnLst/>
              <a:rect r="r" b="b" t="t" l="l"/>
              <a:pathLst>
                <a:path h="939800" w="13324839">
                  <a:moveTo>
                    <a:pt x="0" y="0"/>
                  </a:moveTo>
                  <a:lnTo>
                    <a:pt x="13324839" y="0"/>
                  </a:lnTo>
                  <a:lnTo>
                    <a:pt x="13324839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3D5AF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450080" y="2948940"/>
            <a:ext cx="9974580" cy="685800"/>
            <a:chOff x="0" y="0"/>
            <a:chExt cx="1329944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99439" cy="914400"/>
            </a:xfrm>
            <a:custGeom>
              <a:avLst/>
              <a:gdLst/>
              <a:ahLst/>
              <a:cxnLst/>
              <a:rect r="r" b="b" t="t" l="l"/>
              <a:pathLst>
                <a:path h="914400" w="13299439">
                  <a:moveTo>
                    <a:pt x="0" y="0"/>
                  </a:moveTo>
                  <a:lnTo>
                    <a:pt x="13299439" y="0"/>
                  </a:lnTo>
                  <a:lnTo>
                    <a:pt x="13299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399" r="0" b="-23339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299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2 · S5–S15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15135" y="2939415"/>
            <a:ext cx="2739390" cy="704850"/>
            <a:chOff x="0" y="0"/>
            <a:chExt cx="365252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2520" cy="939800"/>
            </a:xfrm>
            <a:custGeom>
              <a:avLst/>
              <a:gdLst/>
              <a:ahLst/>
              <a:cxnLst/>
              <a:rect r="r" b="b" t="t" l="l"/>
              <a:pathLst>
                <a:path h="939800" w="3652520">
                  <a:moveTo>
                    <a:pt x="0" y="0"/>
                  </a:moveTo>
                  <a:lnTo>
                    <a:pt x="3652520" y="0"/>
                  </a:lnTo>
                  <a:lnTo>
                    <a:pt x="365252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6B2FB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424660" y="2948940"/>
            <a:ext cx="2720340" cy="685800"/>
            <a:chOff x="0" y="0"/>
            <a:chExt cx="36271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27120" cy="914400"/>
            </a:xfrm>
            <a:custGeom>
              <a:avLst/>
              <a:gdLst/>
              <a:ahLst/>
              <a:cxnLst/>
              <a:rect r="r" b="b" t="t" l="l"/>
              <a:pathLst>
                <a:path h="914400" w="3627120">
                  <a:moveTo>
                    <a:pt x="0" y="0"/>
                  </a:moveTo>
                  <a:lnTo>
                    <a:pt x="3627120" y="0"/>
                  </a:lnTo>
                  <a:lnTo>
                    <a:pt x="3627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90" r="0" b="-272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6271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3 · S16–S18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381976" y="3970496"/>
            <a:ext cx="12770168" cy="864680"/>
            <a:chOff x="0" y="0"/>
            <a:chExt cx="17026890" cy="11529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sp>
        <p:nvSpPr>
          <p:cNvPr name="AutoShape 27" id="27"/>
          <p:cNvSpPr/>
          <p:nvPr/>
        </p:nvSpPr>
        <p:spPr>
          <a:xfrm rot="5361900">
            <a:off x="466779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5361900">
            <a:off x="537645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5361900">
            <a:off x="608511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5361900">
            <a:off x="679377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5361900">
            <a:off x="750243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5361900">
            <a:off x="821109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5361900">
            <a:off x="891975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5361900">
            <a:off x="962841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5361900">
            <a:off x="1033707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5361900">
            <a:off x="1104573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5361900">
            <a:off x="1175439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5361900">
            <a:off x="1246305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5361900">
            <a:off x="1317171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5361900">
            <a:off x="1388037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5361900">
            <a:off x="1458903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5361900">
            <a:off x="1529769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5361900">
            <a:off x="16006353" y="439807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2105498" y="4932995"/>
            <a:ext cx="12770168" cy="864680"/>
            <a:chOff x="0" y="0"/>
            <a:chExt cx="17026890" cy="115290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13435" y="4935374"/>
            <a:ext cx="12770168" cy="864680"/>
            <a:chOff x="0" y="0"/>
            <a:chExt cx="17026890" cy="11529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sp>
        <p:nvSpPr>
          <p:cNvPr name="AutoShape 48" id="48"/>
          <p:cNvSpPr/>
          <p:nvPr/>
        </p:nvSpPr>
        <p:spPr>
          <a:xfrm>
            <a:off x="1524473" y="4937753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2105498" y="4926233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2115023" y="5897687"/>
            <a:ext cx="12770168" cy="864680"/>
            <a:chOff x="0" y="0"/>
            <a:chExt cx="17026890" cy="11529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5900066"/>
            <a:ext cx="12770168" cy="864680"/>
            <a:chOff x="0" y="0"/>
            <a:chExt cx="17026890" cy="11529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sp>
        <p:nvSpPr>
          <p:cNvPr name="AutoShape 54" id="54"/>
          <p:cNvSpPr/>
          <p:nvPr/>
        </p:nvSpPr>
        <p:spPr>
          <a:xfrm>
            <a:off x="1533998" y="590244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2115023" y="589092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4381976" y="4930616"/>
            <a:ext cx="12770168" cy="864680"/>
            <a:chOff x="0" y="0"/>
            <a:chExt cx="17026890" cy="11529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sp>
        <p:nvSpPr>
          <p:cNvPr name="AutoShape 58" id="58"/>
          <p:cNvSpPr/>
          <p:nvPr/>
        </p:nvSpPr>
        <p:spPr>
          <a:xfrm rot="5361900">
            <a:off x="466779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rot="5361900">
            <a:off x="537645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rot="5361900">
            <a:off x="608511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rot="5361900">
            <a:off x="679377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rot="5361900">
            <a:off x="750243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rot="5361900">
            <a:off x="821109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5361900">
            <a:off x="891975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rot="5361900">
            <a:off x="962841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5361900">
            <a:off x="1033707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5361900">
            <a:off x="1104573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rot="5361900">
            <a:off x="1175439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rot="5361900">
            <a:off x="1246305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5361900">
            <a:off x="1317171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5361900">
            <a:off x="1388037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5361900">
            <a:off x="1458903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5361900">
            <a:off x="1529769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5361900">
            <a:off x="16006353" y="535819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4381976" y="5890736"/>
            <a:ext cx="12770168" cy="864680"/>
            <a:chOff x="0" y="0"/>
            <a:chExt cx="17026890" cy="11529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sp>
        <p:nvSpPr>
          <p:cNvPr name="AutoShape 77" id="77"/>
          <p:cNvSpPr/>
          <p:nvPr/>
        </p:nvSpPr>
        <p:spPr>
          <a:xfrm rot="5361900">
            <a:off x="466779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5361900">
            <a:off x="537645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5361900">
            <a:off x="608511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5361900">
            <a:off x="679377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5361900">
            <a:off x="750243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5361900">
            <a:off x="821109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5361900">
            <a:off x="891975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5361900">
            <a:off x="962841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5361900">
            <a:off x="1033707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5361900">
            <a:off x="1104573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5361900">
            <a:off x="1175439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5361900">
            <a:off x="1246305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rot="5361900">
            <a:off x="1317171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rot="5361900">
            <a:off x="1388037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rot="5361900">
            <a:off x="1458903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rot="5361900">
            <a:off x="1529769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rot="5361900">
            <a:off x="16006353" y="631831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848204" y="6864726"/>
            <a:ext cx="12770168" cy="864680"/>
            <a:chOff x="0" y="0"/>
            <a:chExt cx="17026890" cy="115290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4381976" y="6850856"/>
            <a:ext cx="12770168" cy="864680"/>
            <a:chOff x="0" y="0"/>
            <a:chExt cx="17026890" cy="115290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sp>
        <p:nvSpPr>
          <p:cNvPr name="AutoShape 98" id="98"/>
          <p:cNvSpPr/>
          <p:nvPr/>
        </p:nvSpPr>
        <p:spPr>
          <a:xfrm rot="5361900">
            <a:off x="466779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rot="5361900">
            <a:off x="537645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rot="5361900">
            <a:off x="608511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rot="5361900">
            <a:off x="679377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rot="5361900">
            <a:off x="750243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rot="5361900">
            <a:off x="821109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rot="5361900">
            <a:off x="891975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5361900">
            <a:off x="962841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rot="5361900">
            <a:off x="1033707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rot="5361900">
            <a:off x="1104573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 rot="5361900">
            <a:off x="1175439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 rot="5361900">
            <a:off x="1246305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 rot="5361900">
            <a:off x="1317171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rot="5361900">
            <a:off x="1388037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 rot="5361900">
            <a:off x="1458903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 rot="5361900">
            <a:off x="1529769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 rot="5361900">
            <a:off x="16006353" y="7278434"/>
            <a:ext cx="859974" cy="0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5" id="115"/>
          <p:cNvGrpSpPr/>
          <p:nvPr/>
        </p:nvGrpSpPr>
        <p:grpSpPr>
          <a:xfrm rot="0">
            <a:off x="685800" y="9738360"/>
            <a:ext cx="10972800" cy="411480"/>
            <a:chOff x="0" y="0"/>
            <a:chExt cx="1463040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Presentación · Fase 1 · Definición Proyecto APT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857729" y="7829418"/>
            <a:ext cx="12770168" cy="864680"/>
            <a:chOff x="0" y="0"/>
            <a:chExt cx="17026890" cy="115290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4391501" y="7815548"/>
            <a:ext cx="12770168" cy="864680"/>
            <a:chOff x="0" y="0"/>
            <a:chExt cx="17026890" cy="115290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7026889" cy="1152906"/>
            </a:xfrm>
            <a:custGeom>
              <a:avLst/>
              <a:gdLst/>
              <a:ahLst/>
              <a:cxnLst/>
              <a:rect r="r" b="b" t="t" l="l"/>
              <a:pathLst>
                <a:path h="1152906" w="17026889">
                  <a:moveTo>
                    <a:pt x="0" y="0"/>
                  </a:moveTo>
                  <a:lnTo>
                    <a:pt x="17026889" y="0"/>
                  </a:lnTo>
                  <a:lnTo>
                    <a:pt x="17026889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813435" y="3968115"/>
            <a:ext cx="3585210" cy="869442"/>
            <a:chOff x="0" y="0"/>
            <a:chExt cx="4780280" cy="11592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780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802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86808" y="0"/>
                  </a:lnTo>
                  <a:cubicBezTo>
                    <a:pt x="4738497" y="0"/>
                    <a:pt x="4780280" y="41910"/>
                    <a:pt x="4780280" y="93472"/>
                  </a:cubicBezTo>
                  <a:lnTo>
                    <a:pt x="4780280" y="1065784"/>
                  </a:lnTo>
                  <a:cubicBezTo>
                    <a:pt x="4780280" y="1117473"/>
                    <a:pt x="4738370" y="1159256"/>
                    <a:pt x="46868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EEF1FB"/>
            </a:solidFill>
            <a:ln w="19050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20930" y="3968115"/>
            <a:ext cx="3031179" cy="844794"/>
            <a:chOff x="0" y="0"/>
            <a:chExt cx="5295118" cy="147575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295117" cy="1475757"/>
            </a:xfrm>
            <a:custGeom>
              <a:avLst/>
              <a:gdLst/>
              <a:ahLst/>
              <a:cxnLst/>
              <a:rect r="r" b="b" t="t" l="l"/>
              <a:pathLst>
                <a:path h="1475757" w="5295117">
                  <a:moveTo>
                    <a:pt x="0" y="0"/>
                  </a:moveTo>
                  <a:lnTo>
                    <a:pt x="5295117" y="0"/>
                  </a:lnTo>
                  <a:lnTo>
                    <a:pt x="5295117" y="1475757"/>
                  </a:lnTo>
                  <a:lnTo>
                    <a:pt x="0" y="1475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69" r="18491" b="4598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5295118" cy="1523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916"/>
                </a:lnSpc>
                <a:spcBef>
                  <a:spcPct val="0"/>
                </a:spcBef>
              </a:pP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Definición proyecto y arquitectura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4391501" y="4932995"/>
            <a:ext cx="3585210" cy="869442"/>
            <a:chOff x="0" y="0"/>
            <a:chExt cx="4780280" cy="115925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780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802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86808" y="0"/>
                  </a:lnTo>
                  <a:cubicBezTo>
                    <a:pt x="4738497" y="0"/>
                    <a:pt x="4780280" y="41910"/>
                    <a:pt x="4780280" y="93472"/>
                  </a:cubicBezTo>
                  <a:lnTo>
                    <a:pt x="4780280" y="1065784"/>
                  </a:lnTo>
                  <a:cubicBezTo>
                    <a:pt x="4780280" y="1117473"/>
                    <a:pt x="4738370" y="1159256"/>
                    <a:pt x="46868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EEF1FB"/>
            </a:solidFill>
            <a:ln w="19050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7927655" y="5876639"/>
            <a:ext cx="3585210" cy="869442"/>
            <a:chOff x="0" y="0"/>
            <a:chExt cx="4780280" cy="115925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780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802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86808" y="0"/>
                  </a:lnTo>
                  <a:cubicBezTo>
                    <a:pt x="4738497" y="0"/>
                    <a:pt x="4780280" y="41910"/>
                    <a:pt x="4780280" y="93472"/>
                  </a:cubicBezTo>
                  <a:lnTo>
                    <a:pt x="4780280" y="1065784"/>
                  </a:lnTo>
                  <a:cubicBezTo>
                    <a:pt x="4780280" y="1117473"/>
                    <a:pt x="4738370" y="1159256"/>
                    <a:pt x="46868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EEF1FB"/>
            </a:solidFill>
            <a:ln w="19050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473890" y="6848475"/>
            <a:ext cx="2841230" cy="869442"/>
            <a:chOff x="0" y="0"/>
            <a:chExt cx="3788306" cy="115925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7883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3788306">
                  <a:moveTo>
                    <a:pt x="0" y="93472"/>
                  </a:moveTo>
                  <a:cubicBezTo>
                    <a:pt x="0" y="41910"/>
                    <a:pt x="33213" y="0"/>
                    <a:pt x="74075" y="0"/>
                  </a:cubicBezTo>
                  <a:lnTo>
                    <a:pt x="3714231" y="0"/>
                  </a:lnTo>
                  <a:cubicBezTo>
                    <a:pt x="3755194" y="0"/>
                    <a:pt x="3788306" y="41910"/>
                    <a:pt x="3788306" y="93472"/>
                  </a:cubicBezTo>
                  <a:lnTo>
                    <a:pt x="3788306" y="1065784"/>
                  </a:lnTo>
                  <a:cubicBezTo>
                    <a:pt x="3788306" y="1117473"/>
                    <a:pt x="3755093" y="1159256"/>
                    <a:pt x="3714231" y="1159256"/>
                  </a:cubicBezTo>
                  <a:lnTo>
                    <a:pt x="74075" y="1159256"/>
                  </a:lnTo>
                  <a:cubicBezTo>
                    <a:pt x="33213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EEF1FB"/>
            </a:solidFill>
            <a:ln w="19050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4948773" y="4957643"/>
            <a:ext cx="2470667" cy="844794"/>
            <a:chOff x="0" y="0"/>
            <a:chExt cx="4315968" cy="147575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315968" cy="1475757"/>
            </a:xfrm>
            <a:custGeom>
              <a:avLst/>
              <a:gdLst/>
              <a:ahLst/>
              <a:cxnLst/>
              <a:rect r="r" b="b" t="t" l="l"/>
              <a:pathLst>
                <a:path h="1475757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475757"/>
                  </a:lnTo>
                  <a:lnTo>
                    <a:pt x="0" y="1475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69" r="0" b="459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4315968" cy="1523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916"/>
                </a:lnSpc>
                <a:spcBef>
                  <a:spcPct val="0"/>
                </a:spcBef>
              </a:pP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sarrollo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afo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8484926" y="5876639"/>
            <a:ext cx="2470667" cy="844794"/>
            <a:chOff x="0" y="0"/>
            <a:chExt cx="4315968" cy="147575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315968" cy="1475757"/>
            </a:xfrm>
            <a:custGeom>
              <a:avLst/>
              <a:gdLst/>
              <a:ahLst/>
              <a:cxnLst/>
              <a:rect r="r" b="b" t="t" l="l"/>
              <a:pathLst>
                <a:path h="1475757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475757"/>
                  </a:lnTo>
                  <a:lnTo>
                    <a:pt x="0" y="1475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69" r="0" b="4598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4315968" cy="1523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916"/>
                </a:lnSpc>
                <a:spcBef>
                  <a:spcPct val="0"/>
                </a:spcBef>
              </a:pPr>
              <a:r>
                <a:rPr lang="en-US" b="true" sz="24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 y Mach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ine Le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arn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1657706" y="6873123"/>
            <a:ext cx="2470667" cy="844794"/>
            <a:chOff x="0" y="0"/>
            <a:chExt cx="4315968" cy="1475757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315968" cy="1475757"/>
            </a:xfrm>
            <a:custGeom>
              <a:avLst/>
              <a:gdLst/>
              <a:ahLst/>
              <a:cxnLst/>
              <a:rect r="r" b="b" t="t" l="l"/>
              <a:pathLst>
                <a:path h="1475757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475757"/>
                  </a:lnTo>
                  <a:lnTo>
                    <a:pt x="0" y="1475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69" r="0" b="4598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4315968" cy="1523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916"/>
                </a:lnSpc>
                <a:spcBef>
                  <a:spcPct val="0"/>
                </a:spcBef>
              </a:pPr>
              <a:r>
                <a:rPr lang="en-US" b="true" sz="24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ligen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sp>
        <p:nvSpPr>
          <p:cNvPr name="AutoShape 145" id="145"/>
          <p:cNvSpPr/>
          <p:nvPr/>
        </p:nvSpPr>
        <p:spPr>
          <a:xfrm>
            <a:off x="510254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6" id="146"/>
          <p:cNvSpPr/>
          <p:nvPr/>
        </p:nvSpPr>
        <p:spPr>
          <a:xfrm>
            <a:off x="581120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7" id="147"/>
          <p:cNvSpPr/>
          <p:nvPr/>
        </p:nvSpPr>
        <p:spPr>
          <a:xfrm>
            <a:off x="651986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8" id="148"/>
          <p:cNvSpPr/>
          <p:nvPr/>
        </p:nvSpPr>
        <p:spPr>
          <a:xfrm>
            <a:off x="722852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9" id="149"/>
          <p:cNvSpPr/>
          <p:nvPr/>
        </p:nvSpPr>
        <p:spPr>
          <a:xfrm>
            <a:off x="793718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0" id="150"/>
          <p:cNvSpPr/>
          <p:nvPr/>
        </p:nvSpPr>
        <p:spPr>
          <a:xfrm>
            <a:off x="864584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1" id="151"/>
          <p:cNvSpPr/>
          <p:nvPr/>
        </p:nvSpPr>
        <p:spPr>
          <a:xfrm>
            <a:off x="935450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2" id="152"/>
          <p:cNvSpPr/>
          <p:nvPr/>
        </p:nvSpPr>
        <p:spPr>
          <a:xfrm>
            <a:off x="1006316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3" id="153"/>
          <p:cNvSpPr/>
          <p:nvPr/>
        </p:nvSpPr>
        <p:spPr>
          <a:xfrm>
            <a:off x="1077182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4" id="154"/>
          <p:cNvSpPr/>
          <p:nvPr/>
        </p:nvSpPr>
        <p:spPr>
          <a:xfrm>
            <a:off x="1148048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5" id="155"/>
          <p:cNvSpPr/>
          <p:nvPr/>
        </p:nvSpPr>
        <p:spPr>
          <a:xfrm>
            <a:off x="1218914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6" id="156"/>
          <p:cNvSpPr/>
          <p:nvPr/>
        </p:nvSpPr>
        <p:spPr>
          <a:xfrm>
            <a:off x="1289780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7" id="157"/>
          <p:cNvSpPr/>
          <p:nvPr/>
        </p:nvSpPr>
        <p:spPr>
          <a:xfrm>
            <a:off x="1360646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8" id="158"/>
          <p:cNvSpPr/>
          <p:nvPr/>
        </p:nvSpPr>
        <p:spPr>
          <a:xfrm>
            <a:off x="1431512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>
            <a:off x="1502378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0" id="160"/>
          <p:cNvSpPr/>
          <p:nvPr/>
        </p:nvSpPr>
        <p:spPr>
          <a:xfrm>
            <a:off x="1573244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1" id="161"/>
          <p:cNvSpPr/>
          <p:nvPr/>
        </p:nvSpPr>
        <p:spPr>
          <a:xfrm>
            <a:off x="16441100" y="781792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2" id="162"/>
          <p:cNvGrpSpPr/>
          <p:nvPr/>
        </p:nvGrpSpPr>
        <p:grpSpPr>
          <a:xfrm rot="0">
            <a:off x="13596935" y="7832217"/>
            <a:ext cx="3585210" cy="869442"/>
            <a:chOff x="0" y="0"/>
            <a:chExt cx="4780280" cy="115925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780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47802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4686808" y="0"/>
                  </a:lnTo>
                  <a:cubicBezTo>
                    <a:pt x="4738497" y="0"/>
                    <a:pt x="4780280" y="41910"/>
                    <a:pt x="4780280" y="93472"/>
                  </a:cubicBezTo>
                  <a:lnTo>
                    <a:pt x="4780280" y="1065784"/>
                  </a:lnTo>
                  <a:cubicBezTo>
                    <a:pt x="4780280" y="1117473"/>
                    <a:pt x="4738370" y="1159256"/>
                    <a:pt x="46868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EEF1FB"/>
            </a:solidFill>
            <a:ln w="19050" cap="sq">
              <a:solidFill>
                <a:srgbClr val="C7D0F0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14154206" y="7849304"/>
            <a:ext cx="2470667" cy="844794"/>
            <a:chOff x="0" y="0"/>
            <a:chExt cx="4315968" cy="147575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315968" cy="1475757"/>
            </a:xfrm>
            <a:custGeom>
              <a:avLst/>
              <a:gdLst/>
              <a:ahLst/>
              <a:cxnLst/>
              <a:rect r="r" b="b" t="t" l="l"/>
              <a:pathLst>
                <a:path h="1475757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475757"/>
                  </a:lnTo>
                  <a:lnTo>
                    <a:pt x="0" y="1475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69" r="0" b="4598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315968" cy="1523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916"/>
                </a:lnSpc>
                <a:spcBef>
                  <a:spcPct val="0"/>
                </a:spcBef>
              </a:pPr>
              <a:r>
                <a:rPr lang="en-US" b="true" sz="243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 y</a:t>
              </a:r>
              <a:r>
                <a:rPr lang="en-US" b="true" sz="2430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cierre</a:t>
              </a:r>
            </a:p>
          </p:txBody>
        </p:sp>
      </p:grpSp>
      <p:sp>
        <p:nvSpPr>
          <p:cNvPr name="AutoShape 167" id="167"/>
          <p:cNvSpPr/>
          <p:nvPr/>
        </p:nvSpPr>
        <p:spPr>
          <a:xfrm>
            <a:off x="2816537" y="4935374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8" id="168"/>
          <p:cNvSpPr/>
          <p:nvPr/>
        </p:nvSpPr>
        <p:spPr>
          <a:xfrm>
            <a:off x="3525197" y="4935374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9" id="169"/>
          <p:cNvSpPr/>
          <p:nvPr/>
        </p:nvSpPr>
        <p:spPr>
          <a:xfrm>
            <a:off x="2826062" y="5900066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0" id="170"/>
          <p:cNvSpPr/>
          <p:nvPr/>
        </p:nvSpPr>
        <p:spPr>
          <a:xfrm>
            <a:off x="3534722" y="5900066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1" id="171"/>
          <p:cNvSpPr/>
          <p:nvPr/>
        </p:nvSpPr>
        <p:spPr>
          <a:xfrm>
            <a:off x="155924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2" id="172"/>
          <p:cNvSpPr/>
          <p:nvPr/>
        </p:nvSpPr>
        <p:spPr>
          <a:xfrm>
            <a:off x="226790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3" id="173"/>
          <p:cNvSpPr/>
          <p:nvPr/>
        </p:nvSpPr>
        <p:spPr>
          <a:xfrm>
            <a:off x="297656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4" id="174"/>
          <p:cNvSpPr/>
          <p:nvPr/>
        </p:nvSpPr>
        <p:spPr>
          <a:xfrm>
            <a:off x="368522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5" id="175"/>
          <p:cNvSpPr/>
          <p:nvPr/>
        </p:nvSpPr>
        <p:spPr>
          <a:xfrm>
            <a:off x="4393882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6" id="176"/>
          <p:cNvSpPr/>
          <p:nvPr/>
        </p:nvSpPr>
        <p:spPr>
          <a:xfrm>
            <a:off x="510254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7" id="177"/>
          <p:cNvSpPr/>
          <p:nvPr/>
        </p:nvSpPr>
        <p:spPr>
          <a:xfrm>
            <a:off x="581120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8" id="178"/>
          <p:cNvSpPr/>
          <p:nvPr/>
        </p:nvSpPr>
        <p:spPr>
          <a:xfrm>
            <a:off x="651986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9" id="179"/>
          <p:cNvSpPr/>
          <p:nvPr/>
        </p:nvSpPr>
        <p:spPr>
          <a:xfrm>
            <a:off x="7228523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0" id="180"/>
          <p:cNvSpPr/>
          <p:nvPr/>
        </p:nvSpPr>
        <p:spPr>
          <a:xfrm>
            <a:off x="7937182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1" id="181"/>
          <p:cNvSpPr/>
          <p:nvPr/>
        </p:nvSpPr>
        <p:spPr>
          <a:xfrm>
            <a:off x="8645842" y="6867105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2" id="182"/>
          <p:cNvSpPr/>
          <p:nvPr/>
        </p:nvSpPr>
        <p:spPr>
          <a:xfrm>
            <a:off x="156876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3" id="183"/>
          <p:cNvSpPr/>
          <p:nvPr/>
        </p:nvSpPr>
        <p:spPr>
          <a:xfrm>
            <a:off x="227742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4" id="184"/>
          <p:cNvSpPr/>
          <p:nvPr/>
        </p:nvSpPr>
        <p:spPr>
          <a:xfrm>
            <a:off x="298608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5" id="185"/>
          <p:cNvSpPr/>
          <p:nvPr/>
        </p:nvSpPr>
        <p:spPr>
          <a:xfrm>
            <a:off x="369474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6" id="186"/>
          <p:cNvSpPr/>
          <p:nvPr/>
        </p:nvSpPr>
        <p:spPr>
          <a:xfrm>
            <a:off x="440340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7" id="187"/>
          <p:cNvSpPr/>
          <p:nvPr/>
        </p:nvSpPr>
        <p:spPr>
          <a:xfrm>
            <a:off x="511206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8" id="188"/>
          <p:cNvSpPr/>
          <p:nvPr/>
        </p:nvSpPr>
        <p:spPr>
          <a:xfrm>
            <a:off x="582072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9" id="189"/>
          <p:cNvSpPr/>
          <p:nvPr/>
        </p:nvSpPr>
        <p:spPr>
          <a:xfrm>
            <a:off x="652938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0" id="190"/>
          <p:cNvSpPr/>
          <p:nvPr/>
        </p:nvSpPr>
        <p:spPr>
          <a:xfrm>
            <a:off x="723804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1" id="191"/>
          <p:cNvSpPr/>
          <p:nvPr/>
        </p:nvSpPr>
        <p:spPr>
          <a:xfrm>
            <a:off x="7946707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2" id="192"/>
          <p:cNvSpPr/>
          <p:nvPr/>
        </p:nvSpPr>
        <p:spPr>
          <a:xfrm>
            <a:off x="8655368" y="7831797"/>
            <a:ext cx="9531" cy="859921"/>
          </a:xfrm>
          <a:prstGeom prst="line">
            <a:avLst/>
          </a:prstGeom>
          <a:ln cap="rnd" w="9525">
            <a:solidFill>
              <a:srgbClr val="C7D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3" id="193"/>
          <p:cNvSpPr txBox="true"/>
          <p:nvPr/>
        </p:nvSpPr>
        <p:spPr>
          <a:xfrm rot="0">
            <a:off x="857729" y="803910"/>
            <a:ext cx="297537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Carta Gantt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2743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6B2FBE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30200" y="548640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D5AFE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703320"/>
            <a:ext cx="15773400" cy="1508760"/>
            <a:chOff x="0" y="0"/>
            <a:chExt cx="210312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¡Gracias!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5143500"/>
            <a:ext cx="15087600" cy="685800"/>
            <a:chOff x="0" y="0"/>
            <a:chExt cx="201168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1168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FA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Preguntas y comentarios sobre nuestro Proyecto APT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8915400"/>
            <a:ext cx="15087600" cy="548640"/>
            <a:chOff x="0" y="0"/>
            <a:chExt cx="20116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FA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[Nombre del Proyecto APT]  ·  [Nelson Zarate] - [Vicente Donoso] - [Christ Louidor]    ·  [Ingeniería en informatica]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DAHT-1b6SOs</dc:identifier>
  <dcterms:modified xsi:type="dcterms:W3CDTF">2011-08-01T06:04:30Z</dcterms:modified>
  <cp:revision>1</cp:revision>
  <dc:title>Presentación de etapa 1 capstone</dc:title>
</cp:coreProperties>
</file>